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tags/tag12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1D_44D0692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10"/>
  </p:sldMasterIdLst>
  <p:notesMasterIdLst>
    <p:notesMasterId r:id="rId19"/>
  </p:notesMasterIdLst>
  <p:handoutMasterIdLst>
    <p:handoutMasterId r:id="rId20"/>
  </p:handoutMasterIdLst>
  <p:sldIdLst>
    <p:sldId id="2147483250" r:id="rId11"/>
    <p:sldId id="281" r:id="rId12"/>
    <p:sldId id="2147483285" r:id="rId13"/>
    <p:sldId id="2147483286" r:id="rId14"/>
    <p:sldId id="272" r:id="rId15"/>
    <p:sldId id="285" r:id="rId16"/>
    <p:sldId id="2147483261" r:id="rId17"/>
    <p:sldId id="2147483266" r:id="rId18"/>
  </p:sldIdLst>
  <p:sldSz cx="12195175" cy="6858000"/>
  <p:notesSz cx="6858000" cy="9144000"/>
  <p:embeddedFontLst>
    <p:embeddedFont>
      <p:font typeface="72 Brand" panose="020B0504030603020204" pitchFamily="34" charset="0"/>
      <p:regular r:id="rId21"/>
      <p:bold r:id="rId22"/>
      <p:italic r:id="rId23"/>
      <p:boldItalic r:id="rId24"/>
    </p:embeddedFont>
    <p:embeddedFont>
      <p:font typeface="72 Brand Medium" panose="020B0504030603020204" pitchFamily="34" charset="0"/>
      <p:regular r:id="rId25"/>
      <p:italic r:id="rId26"/>
    </p:embeddedFont>
    <p:embeddedFont>
      <p:font typeface="Arial Unicode MS" panose="020B0604020202020204" pitchFamily="34" charset="-128"/>
      <p:regular r:id="rId27"/>
    </p:embeddedFont>
  </p:embeddedFontLst>
  <p:custDataLst>
    <p:tags r:id="rId28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6558F12-3A18-471D-8310-538052FE2933}">
          <p14:sldIdLst>
            <p14:sldId id="2147483250"/>
            <p14:sldId id="281"/>
            <p14:sldId id="2147483285"/>
            <p14:sldId id="2147483286"/>
            <p14:sldId id="272"/>
            <p14:sldId id="285"/>
            <p14:sldId id="2147483261"/>
            <p14:sldId id="2147483266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3294" userDrawn="1">
          <p15:clr>
            <a:srgbClr val="A4A3A4"/>
          </p15:clr>
        </p15:guide>
        <p15:guide id="3" pos="38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75DE60F-F061-9186-C55D-060D315FF4C4}" name="Feng, Carol" initials="CF" userId="S::carol.feng01@sap.com::3fc581bf-0d26-4965-807f-00fa63ae760c" providerId="AD"/>
  <p188:author id="{FD173210-4E00-881C-1796-01B5D65AF936}" name="Imke Krüger" initials="IK" userId="072fca9e5840f710" providerId="Windows Live"/>
  <p188:author id="{B6EC8343-9CFC-03A5-80FF-91AD473335E8}" name="Hughes, Jamie" initials="JH" userId="S::jamie.hughes@sap.com::36cfe3be-5d77-46c3-bb00-4a5421f3e788" providerId="AD"/>
  <p188:author id="{5770498A-2AA0-5C4E-2767-32307344AD47}" name="Meagher, Jason" initials="MJ" userId="S::jason.meagher@sap.com::8df69b86-b6d1-4eb4-ac27-953ba6154118" providerId="AD"/>
  <p188:author id="{A0D2B7AF-1744-6A17-5999-E465F81803B5}" name="Bitz, Heidi" initials="HB" userId="S::heidi.bitz@sap.com::9967a29f-0951-4f19-aaf9-5b3fc039a285" providerId="AD"/>
  <p188:author id="{63B4E3E9-1F0E-BEB1-68BB-990E46E861E2}" name="Doreen Peters | ahorn. gmbh" initials="DP" userId="S::doreen@ahorngmbh.de::0c6c1e55-9a7d-45af-ad92-0b8be940a904" providerId="AD"/>
  <p188:author id="{36CCD9F5-6E60-7A73-1DCF-5563810D4955}" name="Maguire, Erin Rose (external - Service)" initials="MS" userId="S::erin.maguire@sap.com::31cd2fe5-b7ee-43ed-a3b6-34dde073ece3" providerId="AD"/>
  <p188:author id="{C20625FD-0F39-6CE0-C5B3-6DB553A9E917}" name="Krueger, Imke (external - Service)" initials="IK" userId="S::imke.krueger@sap.com::7a718e30-7757-4c5f-a851-fb217b5d2b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D2"/>
    <a:srgbClr val="000000"/>
    <a:srgbClr val="FF8AF0"/>
    <a:srgbClr val="D1EFFF"/>
    <a:srgbClr val="89D1FF"/>
    <a:srgbClr val="A9B4BE"/>
    <a:srgbClr val="00144A"/>
    <a:srgbClr val="2CE0BF"/>
    <a:srgbClr val="016EFB"/>
    <a:srgbClr val="0027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51" autoAdjust="0"/>
    <p:restoredTop sz="94805"/>
  </p:normalViewPr>
  <p:slideViewPr>
    <p:cSldViewPr snapToGrid="0">
      <p:cViewPr varScale="1">
        <p:scale>
          <a:sx n="106" d="100"/>
          <a:sy n="106" d="100"/>
        </p:scale>
        <p:origin x="176" y="640"/>
      </p:cViewPr>
      <p:guideLst>
        <p:guide orient="horz" pos="3294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55" d="100"/>
          <a:sy n="155" d="100"/>
        </p:scale>
        <p:origin x="4848" y="19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font" Target="fonts/font5.fntdata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font" Target="fonts/font3.fntdata"/><Relationship Id="rId28" Type="http://schemas.openxmlformats.org/officeDocument/2006/relationships/tags" Target="tags/tag1.xml"/><Relationship Id="rId10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customXml" Target="../customXml/item8.xml"/></Relationships>
</file>

<file path=ppt/comments/modernComment_11D_44D06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1F8FBB8-875A-0D4F-9812-ECD1A8DF3B4C}" authorId="{FD173210-4E00-881C-1796-01B5D65AF936}" created="2025-10-15T20:50:57.443">
    <pc:sldMkLst xmlns:pc="http://schemas.microsoft.com/office/powerpoint/2013/main/command">
      <pc:docMk/>
      <pc:sldMk cId="2530876033" sldId="2147483256"/>
    </pc:sldMkLst>
    <p188:txBody>
      <a:bodyPr/>
      <a:lstStyle/>
      <a:p>
        <a:r>
          <a:rPr lang="de-DE"/>
          <a:t>Added the session survey slide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B848A-B78C-B5A4-1A64-3994B2CA4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B1E38-044B-63EE-D880-04800CF36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8AFC9-D216-370C-C4F9-43A6A556D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en-US" sz="1200" b="1" dirty="0">
                <a:solidFill>
                  <a:srgbClr val="1B0B6E"/>
                </a:solidFill>
                <a:latin typeface="72 Brand" panose="020B0504030603020204" pitchFamily="34" charset="0"/>
              </a:rPr>
              <a:t>Speaker Notes:</a:t>
            </a:r>
          </a:p>
          <a:p>
            <a:pPr algn="l">
              <a:buNone/>
            </a:pPr>
            <a:endParaRPr lang="en-CA" sz="24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CA" sz="2400" b="1" i="0" u="none" strike="noStrike" dirty="0">
                <a:solidFill>
                  <a:srgbClr val="000000"/>
                </a:solidFill>
                <a:effectLst/>
              </a:rPr>
              <a:t>SAP Build is fully integrated with the SAP Business Suite, SAP Business Data Cloud, and SAP Business AI.</a:t>
            </a:r>
            <a:br>
              <a:rPr lang="en-CA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It’s how you extend the suite — with tools that understand your business context, tap into trusted data, and plug directly into your end-to-end processes. This deep integration means every app, automation, or AI agent you build is ready to run at enterprise scale from day one.</a:t>
            </a:r>
          </a:p>
          <a:p>
            <a:pPr algn="l">
              <a:buNone/>
            </a:pPr>
            <a:endParaRPr lang="en-CA" sz="24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CA" sz="2400" b="1" i="0" u="none" strike="noStrike" dirty="0">
                <a:solidFill>
                  <a:srgbClr val="000000"/>
                </a:solidFill>
                <a:effectLst/>
              </a:rPr>
              <a:t>Extension Layer</a:t>
            </a:r>
            <a:br>
              <a:rPr lang="en-CA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SAP Build is your governed extension layer — enabling clean core development across apps, workflows, AI agents, and digital workspaces. Whether your teams are working code-first, low-code, or with embedded AI, they can build and ship up to 3x faster — without compromising standards or control.</a:t>
            </a:r>
          </a:p>
          <a:p>
            <a:pPr algn="l">
              <a:buNone/>
            </a:pPr>
            <a:endParaRPr lang="en-CA" sz="24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CA" sz="2400" b="1" i="0" u="none" strike="noStrike" dirty="0">
                <a:solidFill>
                  <a:srgbClr val="000000"/>
                </a:solidFill>
                <a:effectLst/>
              </a:rPr>
              <a:t>Embedded AI</a:t>
            </a:r>
            <a:br>
              <a:rPr lang="en-CA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Joule for developers brings generative AI directly into the build experience. It’s powered by SAP’s proprietary models and trained on real business logic — helping teams generate secure, contextual code and logic with speed and confidence.</a:t>
            </a:r>
          </a:p>
          <a:p>
            <a:pPr algn="l"/>
            <a:endParaRPr lang="en-CA" sz="24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CA" sz="2400" b="1" i="0" u="none" strike="noStrike" dirty="0">
                <a:solidFill>
                  <a:srgbClr val="000000"/>
                </a:solidFill>
                <a:effectLst/>
              </a:rPr>
              <a:t>Pre-built Content</a:t>
            </a:r>
            <a:br>
              <a:rPr lang="en-CA" sz="24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To accelerate time to value, SAP Build includes over 500 pre-built solutions spanning finance, HCM, supply chain, procurement, and more. These are enterprise-ready templates from SAP and partners — designed to be adapted, not started from scratch.</a:t>
            </a:r>
          </a:p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>
                <a:tab pos="457200" algn="l"/>
              </a:tabLst>
              <a:defRPr/>
            </a:pPr>
            <a:endParaRPr lang="en-US" sz="2400" b="0" dirty="0"/>
          </a:p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>
                <a:tab pos="457200" algn="l"/>
              </a:tabLst>
              <a:defRPr/>
            </a:pPr>
            <a:r>
              <a:rPr lang="en-US" sz="2400" b="0" dirty="0"/>
              <a:t>SAP Build is part of the </a:t>
            </a:r>
            <a:r>
              <a:rPr lang="en-US" sz="2400" b="1" dirty="0"/>
              <a:t>SAP Business Technology Platform</a:t>
            </a:r>
            <a:r>
              <a:rPr lang="en-US" sz="2400" b="0" dirty="0"/>
              <a:t>, which enables even the most complex organizations to create a fully integrated, agile foundation for developing data-driven solutions and meaningfully scaling AI.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1B964-CC56-0BD5-8106-FC6BA960E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39014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C2C35-2B8A-446E-BEC0-FD36716C29AC}" type="slidenum">
              <a:rPr kumimoji="0" lang="en-D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pPr marL="0" marR="0" lvl="0" indent="0" algn="ctr" defTabSz="39014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DE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 panose="020B05040306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5358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4E73D-6035-F474-F13D-77D3DF998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81D09-E5C8-4D19-8C78-E27B3EE06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21B23-F2A7-622A-870A-36853F0EF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D8973-752D-8F91-89BA-9FBC981183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696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56847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85170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5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Keyvisual Dark Blue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99" y="1858963"/>
            <a:ext cx="4271575" cy="184455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200" b="0" i="0">
                <a:solidFill>
                  <a:schemeClr val="bg1"/>
                </a:solidFill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 </a:t>
            </a:r>
            <a:br>
              <a:rPr lang="en-US"/>
            </a:br>
            <a:r>
              <a:rPr lang="en-US"/>
              <a:t>and here</a:t>
            </a:r>
            <a:endParaRPr lang="de-DE" sz="3600" kern="0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object 10">
            <a:extLst>
              <a:ext uri="{FF2B5EF4-FFF2-40B4-BE49-F238E27FC236}">
                <a16:creationId xmlns:a16="http://schemas.microsoft.com/office/drawing/2014/main" id="{C6B76F5E-4398-BD16-B5D6-62F9A27FF810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293337" y="284307"/>
            <a:ext cx="1516538" cy="214363"/>
          </a:xfrm>
          <a:prstGeom prst="rect">
            <a:avLst/>
          </a:prstGeom>
        </p:spPr>
      </p:pic>
      <p:sp>
        <p:nvSpPr>
          <p:cNvPr id="2" name="Text placeholder - column 1">
            <a:extLst>
              <a:ext uri="{FF2B5EF4-FFF2-40B4-BE49-F238E27FC236}">
                <a16:creationId xmlns:a16="http://schemas.microsoft.com/office/drawing/2014/main" id="{BCDC6924-8FC6-12CF-060C-A88CC6F109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3337" y="4027469"/>
            <a:ext cx="4271575" cy="50343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Name, SAP</a:t>
            </a:r>
          </a:p>
          <a:p>
            <a:pPr lvl="0"/>
            <a:r>
              <a:rPr lang="en-US" dirty="0"/>
              <a:t>Speaker Name 2, SAP</a:t>
            </a:r>
          </a:p>
        </p:txBody>
      </p:sp>
      <p:sp>
        <p:nvSpPr>
          <p:cNvPr id="5" name="Text placeholder - column 1">
            <a:extLst>
              <a:ext uri="{FF2B5EF4-FFF2-40B4-BE49-F238E27FC236}">
                <a16:creationId xmlns:a16="http://schemas.microsoft.com/office/drawing/2014/main" id="{9435ADCE-3465-AF4F-B7CC-68F2609F19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337" y="4623706"/>
            <a:ext cx="4271575" cy="23115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/>
            </a:pPr>
            <a:r>
              <a:rPr lang="en-US"/>
              <a:t>Month Year</a:t>
            </a:r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3805DC2B-6B5F-D1FB-BFD0-EF9A7EC4DD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2575" y="6213693"/>
            <a:ext cx="1769400" cy="360000"/>
          </a:xfrm>
          <a:prstGeom prst="rect">
            <a:avLst/>
          </a:prstGeom>
        </p:spPr>
      </p:pic>
      <p:pic>
        <p:nvPicPr>
          <p:cNvPr id="7" name="Grafik 6" descr="Ein Bild, das Grafiken, Screenshot, Farbigkeit, Grafikdesign enthält.&#10;&#10;KI-generierte Inhalte können fehlerhaft sein.">
            <a:extLst>
              <a:ext uri="{FF2B5EF4-FFF2-40B4-BE49-F238E27FC236}">
                <a16:creationId xmlns:a16="http://schemas.microsoft.com/office/drawing/2014/main" id="{DA354FE0-E933-A50A-AB72-1D22C950D78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126806" y="1301192"/>
            <a:ext cx="6366344" cy="36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171" userDrawn="1">
          <p15:clr>
            <a:srgbClr val="FBAE40"/>
          </p15:clr>
        </p15:guide>
        <p15:guide id="3" orient="horz" pos="2523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3022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Keyvisual Light Blue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99" y="1858963"/>
            <a:ext cx="4271575" cy="184455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200" b="0" i="0">
                <a:solidFill>
                  <a:srgbClr val="002A86"/>
                </a:solidFill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 </a:t>
            </a:r>
            <a:br>
              <a:rPr lang="en-US"/>
            </a:br>
            <a:r>
              <a:rPr lang="en-US"/>
              <a:t>and here</a:t>
            </a:r>
            <a:endParaRPr lang="de-DE" sz="3600" kern="0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Text placeholder - column 1">
            <a:extLst>
              <a:ext uri="{FF2B5EF4-FFF2-40B4-BE49-F238E27FC236}">
                <a16:creationId xmlns:a16="http://schemas.microsoft.com/office/drawing/2014/main" id="{BCDC6924-8FC6-12CF-060C-A88CC6F109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3337" y="4027469"/>
            <a:ext cx="4271575" cy="50343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rgbClr val="002A86"/>
                </a:solidFill>
              </a:defRPr>
            </a:lvl1pPr>
          </a:lstStyle>
          <a:p>
            <a:pPr lvl="0"/>
            <a:r>
              <a:rPr lang="en-US" dirty="0"/>
              <a:t>Speaker Name, SAP</a:t>
            </a:r>
          </a:p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/>
            </a:pPr>
            <a:r>
              <a:rPr lang="en-US" dirty="0"/>
              <a:t>Speaker Name 2, SAP</a:t>
            </a:r>
          </a:p>
        </p:txBody>
      </p:sp>
      <p:sp>
        <p:nvSpPr>
          <p:cNvPr id="5" name="Text placeholder - column 1">
            <a:extLst>
              <a:ext uri="{FF2B5EF4-FFF2-40B4-BE49-F238E27FC236}">
                <a16:creationId xmlns:a16="http://schemas.microsoft.com/office/drawing/2014/main" id="{9435ADCE-3465-AF4F-B7CC-68F2609F19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337" y="4623706"/>
            <a:ext cx="4271575" cy="23115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 sz="1400">
                <a:solidFill>
                  <a:srgbClr val="002A86"/>
                </a:solidFill>
              </a:defRPr>
            </a:lvl1pPr>
          </a:lstStyle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/>
            </a:pPr>
            <a:r>
              <a:rPr lang="en-US"/>
              <a:t>Month Year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50B4BD-0486-A000-F88E-89BE29A25C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2575" y="6213693"/>
            <a:ext cx="1769400" cy="360000"/>
          </a:xfrm>
          <a:prstGeom prst="rect">
            <a:avLst/>
          </a:prstGeom>
        </p:spPr>
      </p:pic>
      <p:pic>
        <p:nvPicPr>
          <p:cNvPr id="6" name="object 10">
            <a:extLst>
              <a:ext uri="{FF2B5EF4-FFF2-40B4-BE49-F238E27FC236}">
                <a16:creationId xmlns:a16="http://schemas.microsoft.com/office/drawing/2014/main" id="{92D6A363-6BEF-2C40-6B0A-34B319255EDB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293337" y="284307"/>
            <a:ext cx="1516538" cy="214362"/>
          </a:xfrm>
          <a:prstGeom prst="rect">
            <a:avLst/>
          </a:prstGeom>
        </p:spPr>
      </p:pic>
      <p:pic>
        <p:nvPicPr>
          <p:cNvPr id="7" name="Grafik 6" descr="Ein Bild, das Grafiken, Screenshot, Farbigkeit, Grafikdesign enthält.&#10;&#10;KI-generierte Inhalte können fehlerhaft sein.">
            <a:extLst>
              <a:ext uri="{FF2B5EF4-FFF2-40B4-BE49-F238E27FC236}">
                <a16:creationId xmlns:a16="http://schemas.microsoft.com/office/drawing/2014/main" id="{BA2DCB41-EB4A-3009-CBEE-99B35A1645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26806" y="1301192"/>
            <a:ext cx="6366344" cy="36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2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171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3022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Keyvisual 2 Dark Blue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99" y="1858963"/>
            <a:ext cx="4271575" cy="184455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200" b="0" i="0">
                <a:solidFill>
                  <a:schemeClr val="bg1"/>
                </a:solidFill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 </a:t>
            </a:r>
            <a:br>
              <a:rPr lang="en-US"/>
            </a:br>
            <a:r>
              <a:rPr lang="en-US"/>
              <a:t>and here</a:t>
            </a:r>
            <a:endParaRPr lang="de-DE" sz="3600" kern="0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object 10">
            <a:extLst>
              <a:ext uri="{FF2B5EF4-FFF2-40B4-BE49-F238E27FC236}">
                <a16:creationId xmlns:a16="http://schemas.microsoft.com/office/drawing/2014/main" id="{C6B76F5E-4398-BD16-B5D6-62F9A27FF810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293337" y="284307"/>
            <a:ext cx="1516538" cy="214363"/>
          </a:xfrm>
          <a:prstGeom prst="rect">
            <a:avLst/>
          </a:prstGeom>
        </p:spPr>
      </p:pic>
      <p:sp>
        <p:nvSpPr>
          <p:cNvPr id="2" name="Text placeholder - column 1">
            <a:extLst>
              <a:ext uri="{FF2B5EF4-FFF2-40B4-BE49-F238E27FC236}">
                <a16:creationId xmlns:a16="http://schemas.microsoft.com/office/drawing/2014/main" id="{BCDC6924-8FC6-12CF-060C-A88CC6F109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3337" y="4027469"/>
            <a:ext cx="4271575" cy="50343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Name, SAP</a:t>
            </a:r>
          </a:p>
          <a:p>
            <a:pPr lvl="0"/>
            <a:r>
              <a:rPr lang="en-US" dirty="0"/>
              <a:t>Speaker Name 2, SAP</a:t>
            </a:r>
          </a:p>
        </p:txBody>
      </p:sp>
      <p:sp>
        <p:nvSpPr>
          <p:cNvPr id="5" name="Text placeholder - column 1">
            <a:extLst>
              <a:ext uri="{FF2B5EF4-FFF2-40B4-BE49-F238E27FC236}">
                <a16:creationId xmlns:a16="http://schemas.microsoft.com/office/drawing/2014/main" id="{9435ADCE-3465-AF4F-B7CC-68F2609F19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337" y="4623706"/>
            <a:ext cx="4271575" cy="23115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/>
            </a:pPr>
            <a:r>
              <a:rPr lang="en-US"/>
              <a:t>Month Year</a:t>
            </a:r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3805DC2B-6B5F-D1FB-BFD0-EF9A7EC4DD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2575" y="6213693"/>
            <a:ext cx="1769400" cy="360000"/>
          </a:xfrm>
          <a:prstGeom prst="rect">
            <a:avLst/>
          </a:prstGeom>
        </p:spPr>
      </p:pic>
      <p:pic>
        <p:nvPicPr>
          <p:cNvPr id="11" name="Grafik 10" descr="Ein Bild, das Kleidung, Menschliches Gesicht, Person, Screenshot enthält.&#10;&#10;KI-generierte Inhalte können fehlerhaft sein.">
            <a:extLst>
              <a:ext uri="{FF2B5EF4-FFF2-40B4-BE49-F238E27FC236}">
                <a16:creationId xmlns:a16="http://schemas.microsoft.com/office/drawing/2014/main" id="{CDF68E14-0038-7C57-0570-81320A0E7D6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445353" y="956737"/>
            <a:ext cx="7374114" cy="494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47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171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3022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Keyvisual 2 Light Blue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99" y="1858963"/>
            <a:ext cx="4271575" cy="184455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200" b="0" i="0">
                <a:solidFill>
                  <a:srgbClr val="002A86"/>
                </a:solidFill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 </a:t>
            </a:r>
            <a:br>
              <a:rPr lang="en-US"/>
            </a:br>
            <a:r>
              <a:rPr lang="en-US"/>
              <a:t>and here</a:t>
            </a:r>
            <a:endParaRPr lang="de-DE" sz="3600" kern="0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Text placeholder - column 1">
            <a:extLst>
              <a:ext uri="{FF2B5EF4-FFF2-40B4-BE49-F238E27FC236}">
                <a16:creationId xmlns:a16="http://schemas.microsoft.com/office/drawing/2014/main" id="{BCDC6924-8FC6-12CF-060C-A88CC6F109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3337" y="4027469"/>
            <a:ext cx="4271575" cy="50343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rgbClr val="002A86"/>
                </a:solidFill>
              </a:defRPr>
            </a:lvl1pPr>
          </a:lstStyle>
          <a:p>
            <a:pPr lvl="0"/>
            <a:r>
              <a:rPr lang="en-US" dirty="0"/>
              <a:t>Speaker Name, SAP</a:t>
            </a:r>
          </a:p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/>
            </a:pPr>
            <a:r>
              <a:rPr lang="en-US" dirty="0"/>
              <a:t>Speaker Name 2, SAP</a:t>
            </a:r>
          </a:p>
        </p:txBody>
      </p:sp>
      <p:sp>
        <p:nvSpPr>
          <p:cNvPr id="5" name="Text placeholder - column 1">
            <a:extLst>
              <a:ext uri="{FF2B5EF4-FFF2-40B4-BE49-F238E27FC236}">
                <a16:creationId xmlns:a16="http://schemas.microsoft.com/office/drawing/2014/main" id="{9435ADCE-3465-AF4F-B7CC-68F2609F19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337" y="4623706"/>
            <a:ext cx="4271575" cy="23115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 sz="1400">
                <a:solidFill>
                  <a:srgbClr val="002A86"/>
                </a:solidFill>
              </a:defRPr>
            </a:lvl1pPr>
          </a:lstStyle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/>
            </a:pPr>
            <a:r>
              <a:rPr lang="en-US"/>
              <a:t>Month Year</a:t>
            </a:r>
          </a:p>
        </p:txBody>
      </p:sp>
      <p:pic>
        <p:nvPicPr>
          <p:cNvPr id="6" name="object 10">
            <a:extLst>
              <a:ext uri="{FF2B5EF4-FFF2-40B4-BE49-F238E27FC236}">
                <a16:creationId xmlns:a16="http://schemas.microsoft.com/office/drawing/2014/main" id="{E06F435B-B4F2-3C3B-FF01-F2FED0B04E5B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293337" y="284307"/>
            <a:ext cx="1516538" cy="2143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50B4BD-0486-A000-F88E-89BE29A25C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82575" y="6213693"/>
            <a:ext cx="1769400" cy="360000"/>
          </a:xfrm>
          <a:prstGeom prst="rect">
            <a:avLst/>
          </a:prstGeom>
        </p:spPr>
      </p:pic>
      <p:pic>
        <p:nvPicPr>
          <p:cNvPr id="14" name="Grafik 13" descr="Ein Bild, das Menschliches Gesicht, Kleidung, Person, Screenshot enthält.&#10;&#10;KI-generierte Inhalte können fehlerhaft sein.">
            <a:extLst>
              <a:ext uri="{FF2B5EF4-FFF2-40B4-BE49-F238E27FC236}">
                <a16:creationId xmlns:a16="http://schemas.microsoft.com/office/drawing/2014/main" id="{BC94FE32-1FCE-ADF8-9FCE-0CEF75FF74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18213" y="1155471"/>
            <a:ext cx="6876985" cy="460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98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171" userDrawn="1">
          <p15:clr>
            <a:srgbClr val="FBAE40"/>
          </p15:clr>
        </p15:guide>
        <p15:guide id="3" orient="horz" pos="2523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3022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0"/>
            <a:ext cx="5211000" cy="409019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6212683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  <p:sp>
        <p:nvSpPr>
          <p:cNvPr id="11" name="Picture Placeholder 1/3 right">
            <a:extLst>
              <a:ext uri="{FF2B5EF4-FFF2-40B4-BE49-F238E27FC236}">
                <a16:creationId xmlns:a16="http://schemas.microsoft.com/office/drawing/2014/main" id="{DBDDA8C9-7B43-6F20-0BFB-64A2FA0DFD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7364186" y="0"/>
            <a:ext cx="4830989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1" userDrawn="1">
          <p15:clr>
            <a:srgbClr val="FBAE40"/>
          </p15:clr>
        </p15:guide>
        <p15:guide id="2" orient="horz" pos="970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Dark Blue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text">
            <a:extLst>
              <a:ext uri="{FF2B5EF4-FFF2-40B4-BE49-F238E27FC236}">
                <a16:creationId xmlns:a16="http://schemas.microsoft.com/office/drawing/2014/main" id="{A412289E-F61C-C4C6-EF03-71EF2CFBC0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498475" y="1579893"/>
            <a:ext cx="4695317" cy="2538986"/>
          </a:xfrm>
        </p:spPr>
        <p:txBody>
          <a:bodyPr anchor="ctr" anchorCtr="0">
            <a:noAutofit/>
          </a:bodyPr>
          <a:lstStyle>
            <a:lvl1pPr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  <p:pic>
        <p:nvPicPr>
          <p:cNvPr id="3" name="Grafik 2" descr="Ein Bild, das Screenshot, Grafiken, Farbigkeit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74DEEBDB-220B-FC33-E9F5-E0355E26E0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9852" y="2202578"/>
            <a:ext cx="5388254" cy="218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736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Light Blue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>
            <a:extLst>
              <a:ext uri="{FF2B5EF4-FFF2-40B4-BE49-F238E27FC236}">
                <a16:creationId xmlns:a16="http://schemas.microsoft.com/office/drawing/2014/main" id="{B8E19BB8-A9B6-70B1-A41B-ECC3C44A45E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498475" y="1579893"/>
            <a:ext cx="4695317" cy="2538986"/>
          </a:xfrm>
        </p:spPr>
        <p:txBody>
          <a:bodyPr anchor="ctr" anchorCtr="0">
            <a:noAutofit/>
          </a:bodyPr>
          <a:lstStyle>
            <a:lvl1pPr>
              <a:defRPr sz="3600" b="0" i="0">
                <a:solidFill>
                  <a:srgbClr val="00144A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  <p:pic>
        <p:nvPicPr>
          <p:cNvPr id="3" name="Grafik 2" descr="Ein Bild, das Grafiken, Screenshot, Grafikdesign, Farbigkeit enthält.&#10;&#10;KI-generierte Inhalte können fehlerhaft sein.">
            <a:extLst>
              <a:ext uri="{FF2B5EF4-FFF2-40B4-BE49-F238E27FC236}">
                <a16:creationId xmlns:a16="http://schemas.microsoft.com/office/drawing/2014/main" id="{0F1D9163-0B5C-5000-AD1B-420F58612E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50152" y="1564395"/>
            <a:ext cx="4307142" cy="340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82727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736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 Blue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F81AC856-51FB-3EF1-C20A-A4CA2C0C35E4}"/>
              </a:ext>
            </a:extLst>
          </p:cNvPr>
          <p:cNvSpPr/>
          <p:nvPr userDrawn="1"/>
        </p:nvSpPr>
        <p:spPr bwMode="gray">
          <a:xfrm>
            <a:off x="10931236" y="0"/>
            <a:ext cx="1263940" cy="6858000"/>
          </a:xfrm>
          <a:prstGeom prst="rect">
            <a:avLst/>
          </a:prstGeom>
          <a:solidFill>
            <a:srgbClr val="00144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Quote placeholder">
            <a:extLst>
              <a:ext uri="{FF2B5EF4-FFF2-40B4-BE49-F238E27FC236}">
                <a16:creationId xmlns:a16="http://schemas.microsoft.com/office/drawing/2014/main" id="{69016EE0-15AC-8AC3-D463-DC5DC61056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16035" y="2413223"/>
            <a:ext cx="8747171" cy="2226877"/>
          </a:xfrm>
        </p:spPr>
        <p:txBody>
          <a:bodyPr anchor="ctr" anchorCtr="0"/>
          <a:lstStyle>
            <a:lvl1pPr marL="0" indent="0">
              <a:lnSpc>
                <a:spcPct val="90000"/>
              </a:lnSpc>
              <a:spcBef>
                <a:spcPts val="600"/>
              </a:spcBef>
              <a:defRPr sz="5999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  <a:lvl2pPr marL="0" indent="0">
              <a:buNone/>
              <a:defRPr sz="16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noProof="0" dirty="0"/>
              <a:t>“Quote goes here </a:t>
            </a:r>
            <a:br>
              <a:rPr lang="en-US" noProof="0" dirty="0"/>
            </a:br>
            <a:r>
              <a:rPr lang="en-US" noProof="0" dirty="0"/>
              <a:t>and here.”</a:t>
            </a:r>
          </a:p>
          <a:p>
            <a:pPr lvl="1"/>
            <a:r>
              <a:rPr lang="en-US" noProof="0" dirty="0"/>
              <a:t>Source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BF5A9396-A07D-6E06-45A1-4C3DA3FAF6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6665" r="-30972"/>
          <a:stretch>
            <a:fillRect/>
          </a:stretch>
        </p:blipFill>
        <p:spPr>
          <a:xfrm>
            <a:off x="0" y="-685863"/>
            <a:ext cx="4670474" cy="80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7859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4" orient="horz" pos="1132" userDrawn="1">
          <p15:clr>
            <a:srgbClr val="FBAE40"/>
          </p15:clr>
        </p15:guide>
        <p15:guide id="5" orient="horz" pos="2682" userDrawn="1">
          <p15:clr>
            <a:srgbClr val="FBAE40"/>
          </p15:clr>
        </p15:guide>
        <p15:guide id="6" pos="736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 Blue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>
            <a:extLst>
              <a:ext uri="{FF2B5EF4-FFF2-40B4-BE49-F238E27FC236}">
                <a16:creationId xmlns:a16="http://schemas.microsoft.com/office/drawing/2014/main" id="{2F562D68-12E0-FC6D-5FA2-8F0F5950F2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16035" y="2413223"/>
            <a:ext cx="8747171" cy="2226877"/>
          </a:xfrm>
        </p:spPr>
        <p:txBody>
          <a:bodyPr anchor="ctr" anchorCtr="0"/>
          <a:lstStyle>
            <a:lvl1pPr marL="0" indent="0">
              <a:lnSpc>
                <a:spcPct val="90000"/>
              </a:lnSpc>
              <a:spcBef>
                <a:spcPts val="600"/>
              </a:spcBef>
              <a:defRPr sz="5999" b="0" i="0">
                <a:solidFill>
                  <a:srgbClr val="00144A"/>
                </a:solidFill>
                <a:latin typeface="72 Brand Medium" panose="020B0504030603020204" pitchFamily="34" charset="0"/>
              </a:defRPr>
            </a:lvl1pPr>
            <a:lvl2pPr marL="0" indent="0">
              <a:buNone/>
              <a:defRPr sz="1600">
                <a:solidFill>
                  <a:srgbClr val="00144A"/>
                </a:solidFill>
              </a:defRPr>
            </a:lvl2pPr>
          </a:lstStyle>
          <a:p>
            <a:pPr lvl="0"/>
            <a:r>
              <a:rPr lang="en-US" noProof="0" dirty="0"/>
              <a:t>“Quote goes here </a:t>
            </a:r>
            <a:br>
              <a:rPr lang="en-US" noProof="0" dirty="0"/>
            </a:br>
            <a:r>
              <a:rPr lang="en-US" noProof="0" dirty="0"/>
              <a:t>and here.”</a:t>
            </a:r>
          </a:p>
          <a:p>
            <a:pPr lvl="1"/>
            <a:r>
              <a:rPr lang="en-US" noProof="0" dirty="0"/>
              <a:t>Source</a:t>
            </a:r>
          </a:p>
        </p:txBody>
      </p:sp>
      <p:pic>
        <p:nvPicPr>
          <p:cNvPr id="23" name="Grafik 22" descr="Ein Bild, das Screenshot, Farbigkeit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3F193346-BE53-D607-580F-690C2CC99A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0232"/>
          <a:stretch>
            <a:fillRect/>
          </a:stretch>
        </p:blipFill>
        <p:spPr>
          <a:xfrm>
            <a:off x="0" y="-685863"/>
            <a:ext cx="3016719" cy="80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93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4" orient="horz" pos="1132" userDrawn="1">
          <p15:clr>
            <a:srgbClr val="FBAE40"/>
          </p15:clr>
        </p15:guide>
        <p15:guide id="5" orient="horz" pos="3204" userDrawn="1">
          <p15:clr>
            <a:srgbClr val="FBAE40"/>
          </p15:clr>
        </p15:guide>
        <p15:guide id="6" pos="736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ere ideas get real Dark Blue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F81AC856-51FB-3EF1-C20A-A4CA2C0C35E4}"/>
              </a:ext>
            </a:extLst>
          </p:cNvPr>
          <p:cNvSpPr/>
          <p:nvPr userDrawn="1"/>
        </p:nvSpPr>
        <p:spPr bwMode="gray">
          <a:xfrm>
            <a:off x="10931236" y="0"/>
            <a:ext cx="1263940" cy="6858000"/>
          </a:xfrm>
          <a:prstGeom prst="rect">
            <a:avLst/>
          </a:prstGeom>
          <a:solidFill>
            <a:srgbClr val="00144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" name="Grafik 4" descr="Ein Bild, das Screenshot, Grafiken, Schrift, Grafikdesign enthält.&#10;&#10;KI-generierte Inhalte können fehlerhaft sein.">
            <a:extLst>
              <a:ext uri="{FF2B5EF4-FFF2-40B4-BE49-F238E27FC236}">
                <a16:creationId xmlns:a16="http://schemas.microsoft.com/office/drawing/2014/main" id="{90EAC435-859A-AD05-9820-711E4C833E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142" y="2106743"/>
            <a:ext cx="10172890" cy="248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05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4" orient="horz" pos="1132" userDrawn="1">
          <p15:clr>
            <a:srgbClr val="FBAE40"/>
          </p15:clr>
        </p15:guide>
        <p15:guide id="5" orient="horz" pos="2682" userDrawn="1">
          <p15:clr>
            <a:srgbClr val="FBAE40"/>
          </p15:clr>
        </p15:guide>
        <p15:guide id="6" pos="736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ere ideas get real Light Blue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reenshot, Grafiken, Grafikdesign, Schrift enthält.&#10;&#10;KI-generierte Inhalte können fehlerhaft sein.">
            <a:extLst>
              <a:ext uri="{FF2B5EF4-FFF2-40B4-BE49-F238E27FC236}">
                <a16:creationId xmlns:a16="http://schemas.microsoft.com/office/drawing/2014/main" id="{304D449C-317C-5DAF-ABE2-5820820214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16379" y="1324349"/>
            <a:ext cx="9162415" cy="362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7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14">
          <p15:clr>
            <a:srgbClr val="FBAE40"/>
          </p15:clr>
        </p15:guide>
        <p15:guide id="4" orient="horz" pos="1132">
          <p15:clr>
            <a:srgbClr val="FBAE40"/>
          </p15:clr>
        </p15:guide>
        <p15:guide id="5" orient="horz" pos="3204">
          <p15:clr>
            <a:srgbClr val="FBAE40"/>
          </p15:clr>
        </p15:guide>
        <p15:guide id="6" pos="736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4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551" userDrawn="1">
          <p15:clr>
            <a:srgbClr val="FBAE40"/>
          </p15:clr>
        </p15:guide>
        <p15:guide id="5" orient="horz" pos="399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653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  <p15:guide id="2" orient="horz" pos="399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4" pos="3674" userDrawn="1">
          <p15:clr>
            <a:srgbClr val="FBAE40"/>
          </p15:clr>
        </p15:guide>
        <p15:guide id="5" pos="4007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563" userDrawn="1">
          <p15:clr>
            <a:srgbClr val="FBAE40"/>
          </p15:clr>
        </p15:guide>
        <p15:guide id="4" pos="2717" userDrawn="1">
          <p15:clr>
            <a:srgbClr val="FBAE40"/>
          </p15:clr>
        </p15:guide>
        <p15:guide id="5" pos="4964" userDrawn="1">
          <p15:clr>
            <a:srgbClr val="FBAE40"/>
          </p15:clr>
        </p15:guide>
        <p15:guide id="6" pos="5119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  <p15:guide id="10" orient="horz" pos="399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  <p15:guide id="7" orient="horz" pos="3997" userDrawn="1">
          <p15:clr>
            <a:srgbClr val="FBAE40"/>
          </p15:clr>
        </p15:guide>
        <p15:guide id="8" pos="3682" userDrawn="1">
          <p15:clr>
            <a:srgbClr val="FBAE40"/>
          </p15:clr>
        </p15:guide>
        <p15:guide id="9" pos="4000" userDrawn="1">
          <p15:clr>
            <a:srgbClr val="FBAE40"/>
          </p15:clr>
        </p15:guide>
        <p15:guide id="10" pos="736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455" userDrawn="1">
          <p15:clr>
            <a:srgbClr val="FBAE40"/>
          </p15:clr>
        </p15:guide>
        <p15:guide id="4" pos="2773" userDrawn="1">
          <p15:clr>
            <a:srgbClr val="FBAE40"/>
          </p15:clr>
        </p15:guide>
        <p15:guide id="5" pos="4910" userDrawn="1">
          <p15:clr>
            <a:srgbClr val="FBAE40"/>
          </p15:clr>
        </p15:guide>
        <p15:guide id="6" pos="5227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  <p15:guide id="12" orient="horz" pos="399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  <p15:guide id="7" orient="horz" pos="3990" userDrawn="1">
          <p15:clr>
            <a:srgbClr val="FBAE40"/>
          </p15:clr>
        </p15:guide>
        <p15:guide id="8" pos="1840" userDrawn="1">
          <p15:clr>
            <a:srgbClr val="FBAE40"/>
          </p15:clr>
        </p15:guide>
        <p15:guide id="9" pos="2159" userDrawn="1">
          <p15:clr>
            <a:srgbClr val="FBAE40"/>
          </p15:clr>
        </p15:guide>
        <p15:guide id="10" pos="3683" userDrawn="1">
          <p15:clr>
            <a:srgbClr val="FBAE40"/>
          </p15:clr>
        </p15:guide>
        <p15:guide id="11" pos="4000" userDrawn="1">
          <p15:clr>
            <a:srgbClr val="FBAE40"/>
          </p15:clr>
        </p15:guide>
        <p15:guide id="12" pos="5525" userDrawn="1">
          <p15:clr>
            <a:srgbClr val="FBAE40"/>
          </p15:clr>
        </p15:guide>
        <p15:guide id="13" pos="5842" userDrawn="1">
          <p15:clr>
            <a:srgbClr val="FBAE40"/>
          </p15:clr>
        </p15:guide>
        <p15:guide id="14" pos="736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548000"/>
            <a:ext cx="7092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991" userDrawn="1">
          <p15:clr>
            <a:srgbClr val="FBAE40"/>
          </p15:clr>
        </p15:guide>
        <p15:guide id="3" pos="4786" userDrawn="1">
          <p15:clr>
            <a:srgbClr val="FBAE40"/>
          </p15:clr>
        </p15:guide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7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557338"/>
            <a:ext cx="5328000" cy="4788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972" userDrawn="1">
          <p15:clr>
            <a:srgbClr val="FBAE40"/>
          </p15:clr>
        </p15:guide>
        <p15:guide id="3" pos="367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7364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3991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788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2" userDrawn="1">
          <p15:clr>
            <a:srgbClr val="FBAE40"/>
          </p15:clr>
        </p15:guide>
        <p15:guide id="5" orient="horz" pos="3991" userDrawn="1">
          <p15:clr>
            <a:srgbClr val="FBAE40"/>
          </p15:clr>
        </p15:guide>
        <p15:guide id="6" pos="736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Dark Blue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Screenshot, Grafiken, Farbigkeit enthält.&#10;&#10;KI-generierte Inhalte können fehlerhaft sein.">
            <a:extLst>
              <a:ext uri="{FF2B5EF4-FFF2-40B4-BE49-F238E27FC236}">
                <a16:creationId xmlns:a16="http://schemas.microsoft.com/office/drawing/2014/main" id="{6C149C7D-EDEA-E2CF-76ED-75CC189BF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0611" y="196947"/>
            <a:ext cx="9903657" cy="5570807"/>
          </a:xfrm>
          <a:prstGeom prst="rect">
            <a:avLst/>
          </a:prstGeom>
        </p:spPr>
      </p:pic>
      <p:sp>
        <p:nvSpPr>
          <p:cNvPr id="9" name="Copyright - Dynamic" descr="{&quot;templafy&quot;:{&quot;id&quot;:&quot;27f15a2f-efbf-4b45-a883-cb50c003bc42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solidFill>
                  <a:schemeClr val="bg1"/>
                </a:solidFill>
                <a:latin typeface="+mn-lt"/>
              </a:rPr>
              <a:t>© 2025 SAP SE or an SAP affiliate company. All rights reserved. See Legal Notice on </a:t>
            </a:r>
            <a:r>
              <a:rPr lang="en-US" sz="600" b="0" i="0" err="1">
                <a:solidFill>
                  <a:schemeClr val="bg1"/>
                </a:solidFill>
                <a:latin typeface="+mn-lt"/>
              </a:rPr>
              <a:t>www.sap.com</a:t>
            </a:r>
            <a:r>
              <a:rPr lang="en-US" sz="600" b="0" i="0">
                <a:solidFill>
                  <a:schemeClr val="bg1"/>
                </a:solidFill>
                <a:latin typeface="+mn-lt"/>
              </a:rPr>
              <a:t>/legal-notice for use terms, disclaimers, disclosures, or restrictions related to this material.</a:t>
            </a:r>
          </a:p>
        </p:txBody>
      </p:sp>
      <p:sp>
        <p:nvSpPr>
          <p:cNvPr id="3" name="Textplatzhalter 6">
            <a:extLst>
              <a:ext uri="{FF2B5EF4-FFF2-40B4-BE49-F238E27FC236}">
                <a16:creationId xmlns:a16="http://schemas.microsoft.com/office/drawing/2014/main" id="{B01F4787-EAB6-6758-FC14-3B358D0B43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8475" y="3197065"/>
            <a:ext cx="3305429" cy="1265079"/>
          </a:xfrm>
        </p:spPr>
        <p:txBody>
          <a:bodyPr/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2E7F0D-A8CC-D351-94E0-B93E3F3DEA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8475" y="2907348"/>
            <a:ext cx="1971730" cy="319532"/>
          </a:xfrm>
        </p:spPr>
        <p:txBody>
          <a:bodyPr/>
          <a:lstStyle>
            <a:lvl1pPr>
              <a:defRPr lang="de-DE" sz="16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de-DE"/>
              <a:t>Contact </a:t>
            </a:r>
            <a:r>
              <a:rPr lang="de-DE" err="1"/>
              <a:t>information</a:t>
            </a:r>
            <a:r>
              <a:rPr lang="de-DE"/>
              <a:t>: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8797235-2602-508E-6B35-20DED9161D4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65660" y="5990000"/>
            <a:ext cx="3506400" cy="360000"/>
          </a:xfrm>
          <a:prstGeom prst="rect">
            <a:avLst/>
          </a:prstGeom>
        </p:spPr>
      </p:pic>
      <p:pic>
        <p:nvPicPr>
          <p:cNvPr id="7" name="object 10">
            <a:extLst>
              <a:ext uri="{FF2B5EF4-FFF2-40B4-BE49-F238E27FC236}">
                <a16:creationId xmlns:a16="http://schemas.microsoft.com/office/drawing/2014/main" id="{13CDB3F7-00C7-0239-F25F-0E99260F48B2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>
          <a:xfrm>
            <a:off x="498478" y="270676"/>
            <a:ext cx="1516531" cy="2143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F86EEA-468A-E8C1-9988-BEAB929C1879}"/>
              </a:ext>
            </a:extLst>
          </p:cNvPr>
          <p:cNvSpPr txBox="1"/>
          <p:nvPr userDrawn="1"/>
        </p:nvSpPr>
        <p:spPr>
          <a:xfrm>
            <a:off x="5335150" y="3311951"/>
            <a:ext cx="3185991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4000" b="1" i="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7230619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70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4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Light Blue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pyright - Dynamic" descr="{&quot;templafy&quot;:{&quot;id&quot;:&quot;27f15a2f-efbf-4b45-a883-cb50c003bc42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solidFill>
                  <a:srgbClr val="00144A"/>
                </a:solidFill>
                <a:latin typeface="+mn-lt"/>
              </a:rPr>
              <a:t>© 2025 SAP SE or an SAP affiliate company. All rights reserved. See Legal Notice on </a:t>
            </a:r>
            <a:r>
              <a:rPr lang="en-US" sz="600" b="0" i="0" err="1">
                <a:solidFill>
                  <a:srgbClr val="00144A"/>
                </a:solidFill>
                <a:latin typeface="+mn-lt"/>
              </a:rPr>
              <a:t>www.sap.com</a:t>
            </a:r>
            <a:r>
              <a:rPr lang="en-US" sz="600" b="0" i="0">
                <a:solidFill>
                  <a:srgbClr val="00144A"/>
                </a:solidFill>
                <a:latin typeface="+mn-lt"/>
              </a:rPr>
              <a:t>/legal-notice for use terms, disclaimers, disclosures, or restrictions related to this material.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92FCA68-7DA8-8A95-904C-BC4FE65858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8475" y="3197065"/>
            <a:ext cx="3305429" cy="1265079"/>
          </a:xfrm>
        </p:spPr>
        <p:txBody>
          <a:bodyPr/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rgbClr val="002A86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5640DA-8699-0ACF-0E7E-02C3C53F5C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8475" y="2907348"/>
            <a:ext cx="1971730" cy="319532"/>
          </a:xfrm>
        </p:spPr>
        <p:txBody>
          <a:bodyPr/>
          <a:lstStyle>
            <a:lvl1pPr>
              <a:defRPr lang="de-DE" sz="1600" b="0" i="0" kern="1200" dirty="0">
                <a:solidFill>
                  <a:srgbClr val="002A8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de-DE"/>
              <a:t>Contact </a:t>
            </a:r>
            <a:r>
              <a:rPr lang="de-DE" err="1"/>
              <a:t>information</a:t>
            </a:r>
            <a:r>
              <a:rPr lang="de-DE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325E92-A092-A296-1447-24BF65F53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5659" y="5990000"/>
            <a:ext cx="3506403" cy="360000"/>
          </a:xfrm>
          <a:prstGeom prst="rect">
            <a:avLst/>
          </a:prstGeom>
        </p:spPr>
      </p:pic>
      <p:pic>
        <p:nvPicPr>
          <p:cNvPr id="2" name="object 10">
            <a:extLst>
              <a:ext uri="{FF2B5EF4-FFF2-40B4-BE49-F238E27FC236}">
                <a16:creationId xmlns:a16="http://schemas.microsoft.com/office/drawing/2014/main" id="{ED80F4D0-39E0-3001-D857-22E184EE8430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498475" y="270676"/>
            <a:ext cx="1516538" cy="2143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8B9B42-EDE1-7CEF-B9DE-167E9A24E95C}"/>
              </a:ext>
            </a:extLst>
          </p:cNvPr>
          <p:cNvSpPr txBox="1"/>
          <p:nvPr userDrawn="1"/>
        </p:nvSpPr>
        <p:spPr>
          <a:xfrm>
            <a:off x="5335150" y="3311951"/>
            <a:ext cx="3185991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4000" b="1" i="0" kern="0">
                <a:solidFill>
                  <a:srgbClr val="00144A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Thank you!</a:t>
            </a:r>
          </a:p>
        </p:txBody>
      </p:sp>
      <p:pic>
        <p:nvPicPr>
          <p:cNvPr id="4" name="Grafik 3" descr="Ein Bild, das Screenshot, Grafiken, Farbigkeit enthält.&#10;&#10;KI-generierte Inhalte können fehlerhaft sein.">
            <a:extLst>
              <a:ext uri="{FF2B5EF4-FFF2-40B4-BE49-F238E27FC236}">
                <a16:creationId xmlns:a16="http://schemas.microsoft.com/office/drawing/2014/main" id="{4FB77C3D-C803-A0A6-A0C2-0A302AF0A3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50611" y="196947"/>
            <a:ext cx="9903657" cy="557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61797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70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4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92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7.xml"/><Relationship Id="rId63" Type="http://schemas.openxmlformats.org/officeDocument/2006/relationships/tags" Target="../tags/tag38.xml"/><Relationship Id="rId84" Type="http://schemas.openxmlformats.org/officeDocument/2006/relationships/tags" Target="../tags/tag59.xml"/><Relationship Id="rId138" Type="http://schemas.openxmlformats.org/officeDocument/2006/relationships/tags" Target="../tags/tag113.xml"/><Relationship Id="rId107" Type="http://schemas.openxmlformats.org/officeDocument/2006/relationships/tags" Target="../tags/tag82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7.xml"/><Relationship Id="rId53" Type="http://schemas.openxmlformats.org/officeDocument/2006/relationships/tags" Target="../tags/tag28.xml"/><Relationship Id="rId74" Type="http://schemas.openxmlformats.org/officeDocument/2006/relationships/tags" Target="../tags/tag49.xml"/><Relationship Id="rId128" Type="http://schemas.openxmlformats.org/officeDocument/2006/relationships/tags" Target="../tags/tag103.xml"/><Relationship Id="rId149" Type="http://schemas.openxmlformats.org/officeDocument/2006/relationships/tags" Target="../tags/tag124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70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43" Type="http://schemas.openxmlformats.org/officeDocument/2006/relationships/tags" Target="../tags/tag18.xml"/><Relationship Id="rId48" Type="http://schemas.openxmlformats.org/officeDocument/2006/relationships/tags" Target="../tags/tag23.xml"/><Relationship Id="rId64" Type="http://schemas.openxmlformats.org/officeDocument/2006/relationships/tags" Target="../tags/tag39.xml"/><Relationship Id="rId69" Type="http://schemas.openxmlformats.org/officeDocument/2006/relationships/tags" Target="../tags/tag44.xml"/><Relationship Id="rId113" Type="http://schemas.openxmlformats.org/officeDocument/2006/relationships/tags" Target="../tags/tag88.xml"/><Relationship Id="rId118" Type="http://schemas.openxmlformats.org/officeDocument/2006/relationships/tags" Target="../tags/tag93.xml"/><Relationship Id="rId134" Type="http://schemas.openxmlformats.org/officeDocument/2006/relationships/tags" Target="../tags/tag109.xml"/><Relationship Id="rId139" Type="http://schemas.openxmlformats.org/officeDocument/2006/relationships/tags" Target="../tags/tag114.xml"/><Relationship Id="rId80" Type="http://schemas.openxmlformats.org/officeDocument/2006/relationships/tags" Target="../tags/tag55.xml"/><Relationship Id="rId85" Type="http://schemas.openxmlformats.org/officeDocument/2006/relationships/tags" Target="../tags/tag60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8.xml"/><Relationship Id="rId38" Type="http://schemas.openxmlformats.org/officeDocument/2006/relationships/tags" Target="../tags/tag13.xml"/><Relationship Id="rId59" Type="http://schemas.openxmlformats.org/officeDocument/2006/relationships/tags" Target="../tags/tag34.xml"/><Relationship Id="rId103" Type="http://schemas.openxmlformats.org/officeDocument/2006/relationships/tags" Target="../tags/tag78.xml"/><Relationship Id="rId108" Type="http://schemas.openxmlformats.org/officeDocument/2006/relationships/tags" Target="../tags/tag83.xml"/><Relationship Id="rId124" Type="http://schemas.openxmlformats.org/officeDocument/2006/relationships/tags" Target="../tags/tag99.xml"/><Relationship Id="rId129" Type="http://schemas.openxmlformats.org/officeDocument/2006/relationships/tags" Target="../tags/tag104.xml"/><Relationship Id="rId54" Type="http://schemas.openxmlformats.org/officeDocument/2006/relationships/tags" Target="../tags/tag29.xml"/><Relationship Id="rId70" Type="http://schemas.openxmlformats.org/officeDocument/2006/relationships/tags" Target="../tags/tag45.xml"/><Relationship Id="rId75" Type="http://schemas.openxmlformats.org/officeDocument/2006/relationships/tags" Target="../tags/tag50.xml"/><Relationship Id="rId91" Type="http://schemas.openxmlformats.org/officeDocument/2006/relationships/tags" Target="../tags/tag66.xml"/><Relationship Id="rId96" Type="http://schemas.openxmlformats.org/officeDocument/2006/relationships/tags" Target="../tags/tag71.xml"/><Relationship Id="rId140" Type="http://schemas.openxmlformats.org/officeDocument/2006/relationships/tags" Target="../tags/tag115.xml"/><Relationship Id="rId145" Type="http://schemas.openxmlformats.org/officeDocument/2006/relationships/tags" Target="../tags/tag1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49" Type="http://schemas.openxmlformats.org/officeDocument/2006/relationships/tags" Target="../tags/tag24.xml"/><Relationship Id="rId114" Type="http://schemas.openxmlformats.org/officeDocument/2006/relationships/tags" Target="../tags/tag89.xml"/><Relationship Id="rId119" Type="http://schemas.openxmlformats.org/officeDocument/2006/relationships/tags" Target="../tags/tag94.xml"/><Relationship Id="rId44" Type="http://schemas.openxmlformats.org/officeDocument/2006/relationships/tags" Target="../tags/tag19.xml"/><Relationship Id="rId60" Type="http://schemas.openxmlformats.org/officeDocument/2006/relationships/tags" Target="../tags/tag35.xml"/><Relationship Id="rId65" Type="http://schemas.openxmlformats.org/officeDocument/2006/relationships/tags" Target="../tags/tag40.xml"/><Relationship Id="rId81" Type="http://schemas.openxmlformats.org/officeDocument/2006/relationships/tags" Target="../tags/tag56.xml"/><Relationship Id="rId86" Type="http://schemas.openxmlformats.org/officeDocument/2006/relationships/tags" Target="../tags/tag61.xml"/><Relationship Id="rId130" Type="http://schemas.openxmlformats.org/officeDocument/2006/relationships/tags" Target="../tags/tag105.xml"/><Relationship Id="rId135" Type="http://schemas.openxmlformats.org/officeDocument/2006/relationships/tags" Target="../tags/tag110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4.xml"/><Relationship Id="rId109" Type="http://schemas.openxmlformats.org/officeDocument/2006/relationships/tags" Target="../tags/tag84.xml"/><Relationship Id="rId34" Type="http://schemas.openxmlformats.org/officeDocument/2006/relationships/tags" Target="../tags/tag9.xml"/><Relationship Id="rId50" Type="http://schemas.openxmlformats.org/officeDocument/2006/relationships/tags" Target="../tags/tag25.xml"/><Relationship Id="rId55" Type="http://schemas.openxmlformats.org/officeDocument/2006/relationships/tags" Target="../tags/tag30.xml"/><Relationship Id="rId76" Type="http://schemas.openxmlformats.org/officeDocument/2006/relationships/tags" Target="../tags/tag51.xml"/><Relationship Id="rId97" Type="http://schemas.openxmlformats.org/officeDocument/2006/relationships/tags" Target="../tags/tag72.xml"/><Relationship Id="rId104" Type="http://schemas.openxmlformats.org/officeDocument/2006/relationships/tags" Target="../tags/tag79.xml"/><Relationship Id="rId120" Type="http://schemas.openxmlformats.org/officeDocument/2006/relationships/tags" Target="../tags/tag95.xml"/><Relationship Id="rId125" Type="http://schemas.openxmlformats.org/officeDocument/2006/relationships/tags" Target="../tags/tag100.xml"/><Relationship Id="rId141" Type="http://schemas.openxmlformats.org/officeDocument/2006/relationships/tags" Target="../tags/tag116.xml"/><Relationship Id="rId146" Type="http://schemas.openxmlformats.org/officeDocument/2006/relationships/tags" Target="../tags/tag121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6.xml"/><Relationship Id="rId92" Type="http://schemas.openxmlformats.org/officeDocument/2006/relationships/tags" Target="../tags/tag67.xml"/><Relationship Id="rId2" Type="http://schemas.openxmlformats.org/officeDocument/2006/relationships/slideLayout" Target="../slideLayouts/slideLayout2.xml"/><Relationship Id="rId29" Type="http://schemas.openxmlformats.org/officeDocument/2006/relationships/tags" Target="../tags/tag4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15.xml"/><Relationship Id="rId45" Type="http://schemas.openxmlformats.org/officeDocument/2006/relationships/tags" Target="../tags/tag20.xml"/><Relationship Id="rId66" Type="http://schemas.openxmlformats.org/officeDocument/2006/relationships/tags" Target="../tags/tag41.xml"/><Relationship Id="rId87" Type="http://schemas.openxmlformats.org/officeDocument/2006/relationships/tags" Target="../tags/tag62.xml"/><Relationship Id="rId110" Type="http://schemas.openxmlformats.org/officeDocument/2006/relationships/tags" Target="../tags/tag85.xml"/><Relationship Id="rId115" Type="http://schemas.openxmlformats.org/officeDocument/2006/relationships/tags" Target="../tags/tag90.xml"/><Relationship Id="rId131" Type="http://schemas.openxmlformats.org/officeDocument/2006/relationships/tags" Target="../tags/tag106.xml"/><Relationship Id="rId136" Type="http://schemas.openxmlformats.org/officeDocument/2006/relationships/tags" Target="../tags/tag111.xml"/><Relationship Id="rId61" Type="http://schemas.openxmlformats.org/officeDocument/2006/relationships/tags" Target="../tags/tag36.xml"/><Relationship Id="rId82" Type="http://schemas.openxmlformats.org/officeDocument/2006/relationships/tags" Target="../tags/tag57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tags" Target="../tags/tag5.xml"/><Relationship Id="rId35" Type="http://schemas.openxmlformats.org/officeDocument/2006/relationships/tags" Target="../tags/tag10.xml"/><Relationship Id="rId56" Type="http://schemas.openxmlformats.org/officeDocument/2006/relationships/tags" Target="../tags/tag31.xml"/><Relationship Id="rId77" Type="http://schemas.openxmlformats.org/officeDocument/2006/relationships/tags" Target="../tags/tag52.xml"/><Relationship Id="rId100" Type="http://schemas.openxmlformats.org/officeDocument/2006/relationships/tags" Target="../tags/tag75.xml"/><Relationship Id="rId105" Type="http://schemas.openxmlformats.org/officeDocument/2006/relationships/tags" Target="../tags/tag80.xml"/><Relationship Id="rId126" Type="http://schemas.openxmlformats.org/officeDocument/2006/relationships/tags" Target="../tags/tag101.xml"/><Relationship Id="rId147" Type="http://schemas.openxmlformats.org/officeDocument/2006/relationships/tags" Target="../tags/tag122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6.xml"/><Relationship Id="rId72" Type="http://schemas.openxmlformats.org/officeDocument/2006/relationships/tags" Target="../tags/tag47.xml"/><Relationship Id="rId93" Type="http://schemas.openxmlformats.org/officeDocument/2006/relationships/tags" Target="../tags/tag68.xml"/><Relationship Id="rId98" Type="http://schemas.openxmlformats.org/officeDocument/2006/relationships/tags" Target="../tags/tag73.xml"/><Relationship Id="rId121" Type="http://schemas.openxmlformats.org/officeDocument/2006/relationships/tags" Target="../tags/tag96.xml"/><Relationship Id="rId142" Type="http://schemas.openxmlformats.org/officeDocument/2006/relationships/tags" Target="../tags/tag117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21.xml"/><Relationship Id="rId67" Type="http://schemas.openxmlformats.org/officeDocument/2006/relationships/tags" Target="../tags/tag42.xml"/><Relationship Id="rId116" Type="http://schemas.openxmlformats.org/officeDocument/2006/relationships/tags" Target="../tags/tag91.xml"/><Relationship Id="rId137" Type="http://schemas.openxmlformats.org/officeDocument/2006/relationships/tags" Target="../tags/tag112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6.xml"/><Relationship Id="rId62" Type="http://schemas.openxmlformats.org/officeDocument/2006/relationships/tags" Target="../tags/tag37.xml"/><Relationship Id="rId83" Type="http://schemas.openxmlformats.org/officeDocument/2006/relationships/tags" Target="../tags/tag58.xml"/><Relationship Id="rId88" Type="http://schemas.openxmlformats.org/officeDocument/2006/relationships/tags" Target="../tags/tag63.xml"/><Relationship Id="rId111" Type="http://schemas.openxmlformats.org/officeDocument/2006/relationships/tags" Target="../tags/tag86.xml"/><Relationship Id="rId132" Type="http://schemas.openxmlformats.org/officeDocument/2006/relationships/tags" Target="../tags/tag107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11.xml"/><Relationship Id="rId57" Type="http://schemas.openxmlformats.org/officeDocument/2006/relationships/tags" Target="../tags/tag32.xml"/><Relationship Id="rId106" Type="http://schemas.openxmlformats.org/officeDocument/2006/relationships/tags" Target="../tags/tag81.xml"/><Relationship Id="rId127" Type="http://schemas.openxmlformats.org/officeDocument/2006/relationships/tags" Target="../tags/tag102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6.xml"/><Relationship Id="rId52" Type="http://schemas.openxmlformats.org/officeDocument/2006/relationships/tags" Target="../tags/tag27.xml"/><Relationship Id="rId73" Type="http://schemas.openxmlformats.org/officeDocument/2006/relationships/tags" Target="../tags/tag48.xml"/><Relationship Id="rId78" Type="http://schemas.openxmlformats.org/officeDocument/2006/relationships/tags" Target="../tags/tag53.xml"/><Relationship Id="rId94" Type="http://schemas.openxmlformats.org/officeDocument/2006/relationships/tags" Target="../tags/tag69.xml"/><Relationship Id="rId99" Type="http://schemas.openxmlformats.org/officeDocument/2006/relationships/tags" Target="../tags/tag74.xml"/><Relationship Id="rId101" Type="http://schemas.openxmlformats.org/officeDocument/2006/relationships/tags" Target="../tags/tag76.xml"/><Relationship Id="rId122" Type="http://schemas.openxmlformats.org/officeDocument/2006/relationships/tags" Target="../tags/tag97.xml"/><Relationship Id="rId143" Type="http://schemas.openxmlformats.org/officeDocument/2006/relationships/tags" Target="../tags/tag118.xml"/><Relationship Id="rId148" Type="http://schemas.openxmlformats.org/officeDocument/2006/relationships/tags" Target="../tags/tag12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47" Type="http://schemas.openxmlformats.org/officeDocument/2006/relationships/tags" Target="../tags/tag22.xml"/><Relationship Id="rId68" Type="http://schemas.openxmlformats.org/officeDocument/2006/relationships/tags" Target="../tags/tag43.xml"/><Relationship Id="rId89" Type="http://schemas.openxmlformats.org/officeDocument/2006/relationships/tags" Target="../tags/tag64.xml"/><Relationship Id="rId112" Type="http://schemas.openxmlformats.org/officeDocument/2006/relationships/tags" Target="../tags/tag87.xml"/><Relationship Id="rId133" Type="http://schemas.openxmlformats.org/officeDocument/2006/relationships/tags" Target="../tags/tag108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12.xml"/><Relationship Id="rId58" Type="http://schemas.openxmlformats.org/officeDocument/2006/relationships/tags" Target="../tags/tag33.xml"/><Relationship Id="rId79" Type="http://schemas.openxmlformats.org/officeDocument/2006/relationships/tags" Target="../tags/tag54.xml"/><Relationship Id="rId102" Type="http://schemas.openxmlformats.org/officeDocument/2006/relationships/tags" Target="../tags/tag77.xml"/><Relationship Id="rId123" Type="http://schemas.openxmlformats.org/officeDocument/2006/relationships/tags" Target="../tags/tag98.xml"/><Relationship Id="rId144" Type="http://schemas.openxmlformats.org/officeDocument/2006/relationships/tags" Target="../tags/tag119.xml"/><Relationship Id="rId90" Type="http://schemas.openxmlformats.org/officeDocument/2006/relationships/tags" Target="../tags/tag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27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28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29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0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72 Brand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72 Brand" panose="020B0504030603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861" r:id="rId2"/>
    <p:sldLayoutId id="2147483862" r:id="rId3"/>
    <p:sldLayoutId id="2147483819" r:id="rId4"/>
    <p:sldLayoutId id="2147483741" r:id="rId5"/>
    <p:sldLayoutId id="2147483765" r:id="rId6"/>
    <p:sldLayoutId id="2147483800" r:id="rId7"/>
    <p:sldLayoutId id="2147483744" r:id="rId8"/>
    <p:sldLayoutId id="2147483860" r:id="rId9"/>
    <p:sldLayoutId id="2147483864" r:id="rId10"/>
    <p:sldLayoutId id="2147483865" r:id="rId11"/>
    <p:sldLayoutId id="2147483743" r:id="rId12"/>
    <p:sldLayoutId id="2147483774" r:id="rId13"/>
    <p:sldLayoutId id="2147483863" r:id="rId14"/>
    <p:sldLayoutId id="2147483745" r:id="rId15"/>
    <p:sldLayoutId id="2147483760" r:id="rId16"/>
    <p:sldLayoutId id="2147483768" r:id="rId17"/>
    <p:sldLayoutId id="2147483769" r:id="rId18"/>
    <p:sldLayoutId id="2147483770" r:id="rId19"/>
    <p:sldLayoutId id="2147483757" r:id="rId20"/>
    <p:sldLayoutId id="2147483771" r:id="rId21"/>
    <p:sldLayoutId id="2147483763" r:id="rId22"/>
    <p:sldLayoutId id="2147483751" r:id="rId23"/>
    <p:sldLayoutId id="2147483824" r:id="rId24"/>
    <p:sldLayoutId id="2147483802" r:id="rId25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80000"/>
        <a:buFont typeface="72 Brand" panose="02000000000000000000" pitchFamily="2" charset="0"/>
        <a:buChar char="​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73" userDrawn="1">
          <p15:clr>
            <a:srgbClr val="F26B43"/>
          </p15:clr>
        </p15:guide>
        <p15:guide id="3" orient="horz" pos="317" userDrawn="1">
          <p15:clr>
            <a:srgbClr val="F26B43"/>
          </p15:clr>
        </p15:guide>
        <p15:guide id="4" pos="317" userDrawn="1">
          <p15:clr>
            <a:srgbClr val="F26B43"/>
          </p15:clr>
        </p15:guide>
        <p15:guide id="5" pos="7373" userDrawn="1">
          <p15:clr>
            <a:srgbClr val="F26B43"/>
          </p15:clr>
        </p15:guide>
        <p15:guide id="6" orient="horz" pos="39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9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5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emf"/><Relationship Id="rId10" Type="http://schemas.openxmlformats.org/officeDocument/2006/relationships/image" Target="../media/image22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microsoft.com/office/2018/10/relationships/comments" Target="../comments/modernComment_11D_44D069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A17822-DC0F-5756-43AD-6D4DFD672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858963"/>
            <a:ext cx="5809588" cy="1844550"/>
          </a:xfrm>
        </p:spPr>
        <p:txBody>
          <a:bodyPr/>
          <a:lstStyle/>
          <a:p>
            <a:r>
              <a:rPr lang="de-DE" dirty="0"/>
              <a:t>AD260</a:t>
            </a:r>
            <a:br>
              <a:rPr lang="de-DE" dirty="0"/>
            </a:br>
            <a:r>
              <a:rPr lang="en-US" b="1" dirty="0"/>
              <a:t>UI extensibility on cloud and ABAP:</a:t>
            </a:r>
            <a:br>
              <a:rPr lang="en-US" b="1" dirty="0"/>
            </a:br>
            <a:r>
              <a:rPr lang="en-US" b="1" dirty="0"/>
              <a:t>What's in it for you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4C633E-6121-9D5A-A44C-9E590B83935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93337" y="4027468"/>
            <a:ext cx="4271575" cy="889971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Tommy Vinh Lam - Senior Developer, SAP</a:t>
            </a:r>
          </a:p>
          <a:p>
            <a:r>
              <a:rPr lang="de-DE" dirty="0"/>
              <a:t>Daniel Schlachter - Software </a:t>
            </a:r>
            <a:r>
              <a:rPr lang="de-DE" dirty="0" err="1"/>
              <a:t>Architect</a:t>
            </a:r>
            <a:r>
              <a:rPr lang="de-DE" dirty="0"/>
              <a:t>, SAP</a:t>
            </a:r>
          </a:p>
          <a:p>
            <a:r>
              <a:rPr lang="de-DE" dirty="0"/>
              <a:t>Christian Voshage - </a:t>
            </a:r>
            <a:r>
              <a:rPr lang="de-DE" dirty="0" err="1"/>
              <a:t>Product</a:t>
            </a:r>
            <a:r>
              <a:rPr lang="de-DE" dirty="0"/>
              <a:t> Manager Expert, SAP</a:t>
            </a:r>
          </a:p>
          <a:p>
            <a:r>
              <a:rPr lang="de-DE" dirty="0"/>
              <a:t>Steffen Weinstock - Development Expert, SAP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4A004D-868A-8A89-3009-AE0FA4548BD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3337" y="5241394"/>
            <a:ext cx="4271575" cy="231153"/>
          </a:xfrm>
        </p:spPr>
        <p:txBody>
          <a:bodyPr/>
          <a:lstStyle/>
          <a:p>
            <a:r>
              <a:rPr lang="de-DE" dirty="0"/>
              <a:t>November 2025</a:t>
            </a:r>
          </a:p>
        </p:txBody>
      </p:sp>
    </p:spTree>
    <p:extLst>
      <p:ext uri="{BB962C8B-B14F-4D97-AF65-F5344CB8AC3E}">
        <p14:creationId xmlns:p14="http://schemas.microsoft.com/office/powerpoint/2010/main" val="4020567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EA93F-31B1-B3E4-A55E-D225B91D8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1290">
            <a:extLst>
              <a:ext uri="{FF2B5EF4-FFF2-40B4-BE49-F238E27FC236}">
                <a16:creationId xmlns:a16="http://schemas.microsoft.com/office/drawing/2014/main" id="{8A64E034-CC16-5EAB-5A88-A311A66867C5}"/>
              </a:ext>
            </a:extLst>
          </p:cNvPr>
          <p:cNvSpPr/>
          <p:nvPr/>
        </p:nvSpPr>
        <p:spPr bwMode="gray">
          <a:xfrm>
            <a:off x="857976" y="2495161"/>
            <a:ext cx="8636718" cy="3069223"/>
          </a:xfrm>
          <a:prstGeom prst="roundRect">
            <a:avLst>
              <a:gd name="adj" fmla="val 2348"/>
            </a:avLst>
          </a:prstGeom>
          <a:noFill/>
          <a:ln w="11430" algn="ctr">
            <a:gradFill>
              <a:gsLst>
                <a:gs pos="0">
                  <a:srgbClr val="89D1FF"/>
                </a:gs>
                <a:gs pos="100000">
                  <a:srgbClr val="1B90FF"/>
                </a:gs>
              </a:gsLst>
              <a:lin ang="5400000" scaled="1"/>
            </a:gradFill>
            <a:miter lim="800000"/>
            <a:headEnd/>
            <a:tailEnd type="arrow" w="med" len="sm"/>
          </a:ln>
        </p:spPr>
        <p:txBody>
          <a:bodyPr lIns="162338" tIns="129870" rIns="162338" bIns="129870" rtlCol="0" anchor="t"/>
          <a:lstStyle/>
          <a:p>
            <a:pPr marL="0" marR="0" lvl="0" indent="0" algn="l" defTabSz="1074053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GB" sz="10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70" name="Rectangle: Rounded Corners 2069">
            <a:extLst>
              <a:ext uri="{FF2B5EF4-FFF2-40B4-BE49-F238E27FC236}">
                <a16:creationId xmlns:a16="http://schemas.microsoft.com/office/drawing/2014/main" id="{457A47A9-5D94-907E-82DE-03F2758833DC}"/>
              </a:ext>
            </a:extLst>
          </p:cNvPr>
          <p:cNvSpPr/>
          <p:nvPr/>
        </p:nvSpPr>
        <p:spPr bwMode="gray">
          <a:xfrm rot="5400000">
            <a:off x="3754416" y="-379893"/>
            <a:ext cx="2911362" cy="8243823"/>
          </a:xfrm>
          <a:prstGeom prst="roundRect">
            <a:avLst>
              <a:gd name="adj" fmla="val 2038"/>
            </a:avLst>
          </a:prstGeom>
          <a:gradFill>
            <a:gsLst>
              <a:gs pos="0">
                <a:srgbClr val="D1EFFF">
                  <a:alpha val="50000"/>
                </a:srgbClr>
              </a:gs>
              <a:gs pos="100000">
                <a:srgbClr val="89D1FF">
                  <a:alpha val="50000"/>
                </a:srgbClr>
              </a:gs>
            </a:gsLst>
            <a:lin ang="5400000" scaled="1"/>
          </a:gradFill>
          <a:ln w="25400" algn="ctr">
            <a:noFill/>
            <a:miter lim="800000"/>
            <a:headEnd/>
            <a:tailEnd/>
          </a:ln>
          <a:effectLst/>
        </p:spPr>
        <p:txBody>
          <a:bodyPr lIns="182736" tIns="146190" rIns="182736" bIns="146190" rtlCol="0" anchor="t"/>
          <a:lstStyle/>
          <a:p>
            <a:pPr marL="0" marR="0" lvl="0" indent="0" algn="l" defTabSz="913578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72 Brand" pitchFamily="34" charset="-128"/>
              <a:cs typeface="72 Brand" pitchFamily="34" charset="-128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8ACC300-3844-3002-EE51-8749C6B0E68E}"/>
              </a:ext>
            </a:extLst>
          </p:cNvPr>
          <p:cNvGrpSpPr/>
          <p:nvPr/>
        </p:nvGrpSpPr>
        <p:grpSpPr>
          <a:xfrm>
            <a:off x="7202946" y="4109340"/>
            <a:ext cx="770610" cy="513370"/>
            <a:chOff x="4926372" y="4490707"/>
            <a:chExt cx="1025413" cy="683139"/>
          </a:xfrm>
          <a:gradFill>
            <a:gsLst>
              <a:gs pos="11000">
                <a:srgbClr val="EAECEE">
                  <a:lumMod val="90000"/>
                  <a:alpha val="13000"/>
                </a:srgbClr>
              </a:gs>
              <a:gs pos="75000">
                <a:srgbClr val="EAECEE">
                  <a:lumMod val="90000"/>
                  <a:alpha val="0"/>
                </a:srgbClr>
              </a:gs>
            </a:gsLst>
            <a:lin ang="16200000" scaled="1"/>
          </a:gradFill>
        </p:grpSpPr>
        <p:sp>
          <p:nvSpPr>
            <p:cNvPr id="1877" name="Freeform: Shape 1556">
              <a:extLst>
                <a:ext uri="{FF2B5EF4-FFF2-40B4-BE49-F238E27FC236}">
                  <a16:creationId xmlns:a16="http://schemas.microsoft.com/office/drawing/2014/main" id="{C92F3CB7-092A-BBF6-7AA5-A70811EFE9A7}"/>
                </a:ext>
              </a:extLst>
            </p:cNvPr>
            <p:cNvSpPr/>
            <p:nvPr/>
          </p:nvSpPr>
          <p:spPr>
            <a:xfrm>
              <a:off x="4926372" y="4492572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4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357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357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84" name="Freeform: Shape 1558">
              <a:extLst>
                <a:ext uri="{FF2B5EF4-FFF2-40B4-BE49-F238E27FC236}">
                  <a16:creationId xmlns:a16="http://schemas.microsoft.com/office/drawing/2014/main" id="{B957E253-DD38-A22F-600E-59F053896E1B}"/>
                </a:ext>
              </a:extLst>
            </p:cNvPr>
            <p:cNvSpPr/>
            <p:nvPr/>
          </p:nvSpPr>
          <p:spPr>
            <a:xfrm>
              <a:off x="5098196" y="4490707"/>
              <a:ext cx="79108" cy="107415"/>
            </a:xfrm>
            <a:custGeom>
              <a:avLst/>
              <a:gdLst>
                <a:gd name="connsiteX0" fmla="*/ 88294 w 88294"/>
                <a:gd name="connsiteY0" fmla="*/ 65929 h 134527"/>
                <a:gd name="connsiteX1" fmla="*/ 43062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4 w 88294"/>
                <a:gd name="connsiteY4" fmla="*/ 65929 h 134527"/>
                <a:gd name="connsiteX5" fmla="*/ 17525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525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525" y="67932"/>
                  </a:moveTo>
                  <a:cubicBezTo>
                    <a:pt x="17525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9"/>
                    <a:pt x="62423" y="13686"/>
                    <a:pt x="44231" y="13686"/>
                  </a:cubicBezTo>
                  <a:cubicBezTo>
                    <a:pt x="28875" y="13686"/>
                    <a:pt x="17525" y="32547"/>
                    <a:pt x="17525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85" name="Freeform: Shape 1559">
              <a:extLst>
                <a:ext uri="{FF2B5EF4-FFF2-40B4-BE49-F238E27FC236}">
                  <a16:creationId xmlns:a16="http://schemas.microsoft.com/office/drawing/2014/main" id="{E5EB4F7F-2063-D621-0FF1-CA4E76EA1FB9}"/>
                </a:ext>
              </a:extLst>
            </p:cNvPr>
            <p:cNvSpPr/>
            <p:nvPr/>
          </p:nvSpPr>
          <p:spPr>
            <a:xfrm>
              <a:off x="5294545" y="4492572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5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357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5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357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86" name="Freeform: Shape 1561">
              <a:extLst>
                <a:ext uri="{FF2B5EF4-FFF2-40B4-BE49-F238E27FC236}">
                  <a16:creationId xmlns:a16="http://schemas.microsoft.com/office/drawing/2014/main" id="{BD3129A4-46FF-ABE9-7DFA-B7E9770A1185}"/>
                </a:ext>
              </a:extLst>
            </p:cNvPr>
            <p:cNvSpPr/>
            <p:nvPr/>
          </p:nvSpPr>
          <p:spPr>
            <a:xfrm>
              <a:off x="5478632" y="4492572"/>
              <a:ext cx="38880" cy="103950"/>
            </a:xfrm>
            <a:custGeom>
              <a:avLst/>
              <a:gdLst>
                <a:gd name="connsiteX0" fmla="*/ 26371 w 43395"/>
                <a:gd name="connsiteY0" fmla="*/ 16357 h 130188"/>
                <a:gd name="connsiteX1" fmla="*/ 26038 w 43395"/>
                <a:gd name="connsiteY1" fmla="*/ 16357 h 130188"/>
                <a:gd name="connsiteX2" fmla="*/ 3338 w 43395"/>
                <a:gd name="connsiteY2" fmla="*/ 28541 h 130188"/>
                <a:gd name="connsiteX3" fmla="*/ 0 w 43395"/>
                <a:gd name="connsiteY3" fmla="*/ 15189 h 130188"/>
                <a:gd name="connsiteX4" fmla="*/ 28374 w 43395"/>
                <a:gd name="connsiteY4" fmla="*/ 0 h 130188"/>
                <a:gd name="connsiteX5" fmla="*/ 43396 w 43395"/>
                <a:gd name="connsiteY5" fmla="*/ 0 h 130188"/>
                <a:gd name="connsiteX6" fmla="*/ 43396 w 43395"/>
                <a:gd name="connsiteY6" fmla="*/ 130188 h 130188"/>
                <a:gd name="connsiteX7" fmla="*/ 26371 w 43395"/>
                <a:gd name="connsiteY7" fmla="*/ 130188 h 130188"/>
                <a:gd name="connsiteX8" fmla="*/ 26371 w 43395"/>
                <a:gd name="connsiteY8" fmla="*/ 16357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5" h="130188">
                  <a:moveTo>
                    <a:pt x="26371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1" y="130188"/>
                  </a:lnTo>
                  <a:lnTo>
                    <a:pt x="26371" y="16357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87" name="Freeform: Shape 1562">
              <a:extLst>
                <a:ext uri="{FF2B5EF4-FFF2-40B4-BE49-F238E27FC236}">
                  <a16:creationId xmlns:a16="http://schemas.microsoft.com/office/drawing/2014/main" id="{982D802D-964F-FA42-73DE-FFE121E59FBB}"/>
                </a:ext>
              </a:extLst>
            </p:cNvPr>
            <p:cNvSpPr/>
            <p:nvPr/>
          </p:nvSpPr>
          <p:spPr>
            <a:xfrm>
              <a:off x="5688590" y="4490707"/>
              <a:ext cx="79108" cy="107415"/>
            </a:xfrm>
            <a:custGeom>
              <a:avLst/>
              <a:gdLst>
                <a:gd name="connsiteX0" fmla="*/ 88295 w 88294"/>
                <a:gd name="connsiteY0" fmla="*/ 65929 h 134527"/>
                <a:gd name="connsiteX1" fmla="*/ 43063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5 w 88294"/>
                <a:gd name="connsiteY4" fmla="*/ 65929 h 134527"/>
                <a:gd name="connsiteX5" fmla="*/ 17526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693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5" y="65929"/>
                  </a:moveTo>
                  <a:cubicBezTo>
                    <a:pt x="88295" y="110159"/>
                    <a:pt x="71938" y="134528"/>
                    <a:pt x="43063" y="134528"/>
                  </a:cubicBezTo>
                  <a:cubicBezTo>
                    <a:pt x="17693" y="134528"/>
                    <a:pt x="501" y="110660"/>
                    <a:pt x="0" y="67598"/>
                  </a:cubicBezTo>
                  <a:cubicBezTo>
                    <a:pt x="0" y="24035"/>
                    <a:pt x="18861" y="0"/>
                    <a:pt x="45232" y="0"/>
                  </a:cubicBezTo>
                  <a:cubicBezTo>
                    <a:pt x="71604" y="0"/>
                    <a:pt x="88295" y="24369"/>
                    <a:pt x="88295" y="65929"/>
                  </a:cubicBezTo>
                  <a:close/>
                  <a:moveTo>
                    <a:pt x="17526" y="67932"/>
                  </a:moveTo>
                  <a:cubicBezTo>
                    <a:pt x="17526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9"/>
                    <a:pt x="62424" y="13686"/>
                    <a:pt x="44231" y="13686"/>
                  </a:cubicBezTo>
                  <a:cubicBezTo>
                    <a:pt x="28875" y="13686"/>
                    <a:pt x="17693" y="32547"/>
                    <a:pt x="17693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88" name="Freeform: Shape 1563">
              <a:extLst>
                <a:ext uri="{FF2B5EF4-FFF2-40B4-BE49-F238E27FC236}">
                  <a16:creationId xmlns:a16="http://schemas.microsoft.com/office/drawing/2014/main" id="{08ED30F1-5B6E-F91B-429D-189953CFCE0D}"/>
                </a:ext>
              </a:extLst>
            </p:cNvPr>
            <p:cNvSpPr/>
            <p:nvPr/>
          </p:nvSpPr>
          <p:spPr>
            <a:xfrm>
              <a:off x="5872678" y="4490707"/>
              <a:ext cx="79107" cy="107415"/>
            </a:xfrm>
            <a:custGeom>
              <a:avLst/>
              <a:gdLst>
                <a:gd name="connsiteX0" fmla="*/ 88294 w 88293"/>
                <a:gd name="connsiteY0" fmla="*/ 65929 h 134527"/>
                <a:gd name="connsiteX1" fmla="*/ 43062 w 88293"/>
                <a:gd name="connsiteY1" fmla="*/ 134528 h 134527"/>
                <a:gd name="connsiteX2" fmla="*/ 0 w 88293"/>
                <a:gd name="connsiteY2" fmla="*/ 67598 h 134527"/>
                <a:gd name="connsiteX3" fmla="*/ 45232 w 88293"/>
                <a:gd name="connsiteY3" fmla="*/ 0 h 134527"/>
                <a:gd name="connsiteX4" fmla="*/ 88294 w 88293"/>
                <a:gd name="connsiteY4" fmla="*/ 65929 h 134527"/>
                <a:gd name="connsiteX5" fmla="*/ 17692 w 88293"/>
                <a:gd name="connsiteY5" fmla="*/ 67932 h 134527"/>
                <a:gd name="connsiteX6" fmla="*/ 44063 w 88293"/>
                <a:gd name="connsiteY6" fmla="*/ 121008 h 134527"/>
                <a:gd name="connsiteX7" fmla="*/ 70769 w 88293"/>
                <a:gd name="connsiteY7" fmla="*/ 66763 h 134527"/>
                <a:gd name="connsiteX8" fmla="*/ 44397 w 88293"/>
                <a:gd name="connsiteY8" fmla="*/ 13686 h 134527"/>
                <a:gd name="connsiteX9" fmla="*/ 17859 w 88293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3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692" y="67932"/>
                  </a:moveTo>
                  <a:cubicBezTo>
                    <a:pt x="17692" y="101814"/>
                    <a:pt x="28040" y="121008"/>
                    <a:pt x="44063" y="121008"/>
                  </a:cubicBezTo>
                  <a:cubicBezTo>
                    <a:pt x="62090" y="121008"/>
                    <a:pt x="70769" y="99978"/>
                    <a:pt x="70769" y="66763"/>
                  </a:cubicBezTo>
                  <a:cubicBezTo>
                    <a:pt x="70769" y="33549"/>
                    <a:pt x="62591" y="13686"/>
                    <a:pt x="44397" y="13686"/>
                  </a:cubicBezTo>
                  <a:cubicBezTo>
                    <a:pt x="29042" y="13686"/>
                    <a:pt x="17859" y="32547"/>
                    <a:pt x="17859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89" name="Freeform: Shape 1567">
              <a:extLst>
                <a:ext uri="{FF2B5EF4-FFF2-40B4-BE49-F238E27FC236}">
                  <a16:creationId xmlns:a16="http://schemas.microsoft.com/office/drawing/2014/main" id="{820DC3C5-54B9-B74E-EC3C-3C57C112F300}"/>
                </a:ext>
              </a:extLst>
            </p:cNvPr>
            <p:cNvSpPr/>
            <p:nvPr/>
          </p:nvSpPr>
          <p:spPr>
            <a:xfrm>
              <a:off x="4926372" y="4684481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4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90" name="Freeform: Shape 1568">
              <a:extLst>
                <a:ext uri="{FF2B5EF4-FFF2-40B4-BE49-F238E27FC236}">
                  <a16:creationId xmlns:a16="http://schemas.microsoft.com/office/drawing/2014/main" id="{B6473979-8A3B-8D62-B7CE-5D88DD8A412F}"/>
                </a:ext>
              </a:extLst>
            </p:cNvPr>
            <p:cNvSpPr/>
            <p:nvPr/>
          </p:nvSpPr>
          <p:spPr>
            <a:xfrm>
              <a:off x="5098196" y="4682615"/>
              <a:ext cx="79108" cy="107415"/>
            </a:xfrm>
            <a:custGeom>
              <a:avLst/>
              <a:gdLst>
                <a:gd name="connsiteX0" fmla="*/ 88294 w 88294"/>
                <a:gd name="connsiteY0" fmla="*/ 65929 h 134527"/>
                <a:gd name="connsiteX1" fmla="*/ 43062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4 w 88294"/>
                <a:gd name="connsiteY4" fmla="*/ 65929 h 134527"/>
                <a:gd name="connsiteX5" fmla="*/ 17525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525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525" y="67932"/>
                  </a:moveTo>
                  <a:cubicBezTo>
                    <a:pt x="17525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9"/>
                    <a:pt x="62423" y="13686"/>
                    <a:pt x="44231" y="13686"/>
                  </a:cubicBezTo>
                  <a:cubicBezTo>
                    <a:pt x="28875" y="13686"/>
                    <a:pt x="17525" y="32547"/>
                    <a:pt x="17525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91" name="Freeform: Shape 1569">
              <a:extLst>
                <a:ext uri="{FF2B5EF4-FFF2-40B4-BE49-F238E27FC236}">
                  <a16:creationId xmlns:a16="http://schemas.microsoft.com/office/drawing/2014/main" id="{5A451CCA-CB82-73AF-17B0-0E9D06A82109}"/>
                </a:ext>
              </a:extLst>
            </p:cNvPr>
            <p:cNvSpPr/>
            <p:nvPr/>
          </p:nvSpPr>
          <p:spPr>
            <a:xfrm>
              <a:off x="5294545" y="4684481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5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5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92" name="Freeform: Shape 1574">
              <a:extLst>
                <a:ext uri="{FF2B5EF4-FFF2-40B4-BE49-F238E27FC236}">
                  <a16:creationId xmlns:a16="http://schemas.microsoft.com/office/drawing/2014/main" id="{E63730D9-94EC-7A84-E224-67559FB656EE}"/>
                </a:ext>
              </a:extLst>
            </p:cNvPr>
            <p:cNvSpPr/>
            <p:nvPr/>
          </p:nvSpPr>
          <p:spPr>
            <a:xfrm>
              <a:off x="5478632" y="4684481"/>
              <a:ext cx="38880" cy="103950"/>
            </a:xfrm>
            <a:custGeom>
              <a:avLst/>
              <a:gdLst>
                <a:gd name="connsiteX0" fmla="*/ 26371 w 43395"/>
                <a:gd name="connsiteY0" fmla="*/ 16357 h 130188"/>
                <a:gd name="connsiteX1" fmla="*/ 26038 w 43395"/>
                <a:gd name="connsiteY1" fmla="*/ 16357 h 130188"/>
                <a:gd name="connsiteX2" fmla="*/ 3338 w 43395"/>
                <a:gd name="connsiteY2" fmla="*/ 28541 h 130188"/>
                <a:gd name="connsiteX3" fmla="*/ 0 w 43395"/>
                <a:gd name="connsiteY3" fmla="*/ 15189 h 130188"/>
                <a:gd name="connsiteX4" fmla="*/ 28374 w 43395"/>
                <a:gd name="connsiteY4" fmla="*/ 0 h 130188"/>
                <a:gd name="connsiteX5" fmla="*/ 43396 w 43395"/>
                <a:gd name="connsiteY5" fmla="*/ 0 h 130188"/>
                <a:gd name="connsiteX6" fmla="*/ 43396 w 43395"/>
                <a:gd name="connsiteY6" fmla="*/ 130188 h 130188"/>
                <a:gd name="connsiteX7" fmla="*/ 26371 w 43395"/>
                <a:gd name="connsiteY7" fmla="*/ 130188 h 130188"/>
                <a:gd name="connsiteX8" fmla="*/ 26371 w 43395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5" h="130188">
                  <a:moveTo>
                    <a:pt x="26371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1" y="130188"/>
                  </a:lnTo>
                  <a:lnTo>
                    <a:pt x="26371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93" name="Freeform: Shape 1576">
              <a:extLst>
                <a:ext uri="{FF2B5EF4-FFF2-40B4-BE49-F238E27FC236}">
                  <a16:creationId xmlns:a16="http://schemas.microsoft.com/office/drawing/2014/main" id="{8B9467C2-4F26-55E6-F886-5CB7AF0E2602}"/>
                </a:ext>
              </a:extLst>
            </p:cNvPr>
            <p:cNvSpPr/>
            <p:nvPr/>
          </p:nvSpPr>
          <p:spPr>
            <a:xfrm>
              <a:off x="5688590" y="4682615"/>
              <a:ext cx="79108" cy="107415"/>
            </a:xfrm>
            <a:custGeom>
              <a:avLst/>
              <a:gdLst>
                <a:gd name="connsiteX0" fmla="*/ 88295 w 88294"/>
                <a:gd name="connsiteY0" fmla="*/ 65929 h 134527"/>
                <a:gd name="connsiteX1" fmla="*/ 43063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5 w 88294"/>
                <a:gd name="connsiteY4" fmla="*/ 65929 h 134527"/>
                <a:gd name="connsiteX5" fmla="*/ 17526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693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5" y="65929"/>
                  </a:moveTo>
                  <a:cubicBezTo>
                    <a:pt x="88295" y="110159"/>
                    <a:pt x="71938" y="134528"/>
                    <a:pt x="43063" y="134528"/>
                  </a:cubicBezTo>
                  <a:cubicBezTo>
                    <a:pt x="17693" y="134528"/>
                    <a:pt x="501" y="110660"/>
                    <a:pt x="0" y="67598"/>
                  </a:cubicBezTo>
                  <a:cubicBezTo>
                    <a:pt x="0" y="24035"/>
                    <a:pt x="18861" y="0"/>
                    <a:pt x="45232" y="0"/>
                  </a:cubicBezTo>
                  <a:cubicBezTo>
                    <a:pt x="71604" y="0"/>
                    <a:pt x="88295" y="24369"/>
                    <a:pt x="88295" y="65929"/>
                  </a:cubicBezTo>
                  <a:close/>
                  <a:moveTo>
                    <a:pt x="17526" y="67932"/>
                  </a:moveTo>
                  <a:cubicBezTo>
                    <a:pt x="17526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9"/>
                    <a:pt x="62424" y="13686"/>
                    <a:pt x="44231" y="13686"/>
                  </a:cubicBezTo>
                  <a:cubicBezTo>
                    <a:pt x="28875" y="13686"/>
                    <a:pt x="17693" y="32547"/>
                    <a:pt x="17693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97" name="Freeform: Shape 1578">
              <a:extLst>
                <a:ext uri="{FF2B5EF4-FFF2-40B4-BE49-F238E27FC236}">
                  <a16:creationId xmlns:a16="http://schemas.microsoft.com/office/drawing/2014/main" id="{3B11AAB9-00B3-438E-C87B-08CC4949A07E}"/>
                </a:ext>
              </a:extLst>
            </p:cNvPr>
            <p:cNvSpPr/>
            <p:nvPr/>
          </p:nvSpPr>
          <p:spPr>
            <a:xfrm>
              <a:off x="5872678" y="4682615"/>
              <a:ext cx="79107" cy="107415"/>
            </a:xfrm>
            <a:custGeom>
              <a:avLst/>
              <a:gdLst>
                <a:gd name="connsiteX0" fmla="*/ 88294 w 88293"/>
                <a:gd name="connsiteY0" fmla="*/ 65929 h 134527"/>
                <a:gd name="connsiteX1" fmla="*/ 43062 w 88293"/>
                <a:gd name="connsiteY1" fmla="*/ 134528 h 134527"/>
                <a:gd name="connsiteX2" fmla="*/ 0 w 88293"/>
                <a:gd name="connsiteY2" fmla="*/ 67598 h 134527"/>
                <a:gd name="connsiteX3" fmla="*/ 45232 w 88293"/>
                <a:gd name="connsiteY3" fmla="*/ 0 h 134527"/>
                <a:gd name="connsiteX4" fmla="*/ 88294 w 88293"/>
                <a:gd name="connsiteY4" fmla="*/ 65929 h 134527"/>
                <a:gd name="connsiteX5" fmla="*/ 17692 w 88293"/>
                <a:gd name="connsiteY5" fmla="*/ 67932 h 134527"/>
                <a:gd name="connsiteX6" fmla="*/ 44063 w 88293"/>
                <a:gd name="connsiteY6" fmla="*/ 121008 h 134527"/>
                <a:gd name="connsiteX7" fmla="*/ 70769 w 88293"/>
                <a:gd name="connsiteY7" fmla="*/ 66763 h 134527"/>
                <a:gd name="connsiteX8" fmla="*/ 44397 w 88293"/>
                <a:gd name="connsiteY8" fmla="*/ 13686 h 134527"/>
                <a:gd name="connsiteX9" fmla="*/ 17859 w 88293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3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692" y="67932"/>
                  </a:moveTo>
                  <a:cubicBezTo>
                    <a:pt x="17692" y="101814"/>
                    <a:pt x="28040" y="121008"/>
                    <a:pt x="44063" y="121008"/>
                  </a:cubicBezTo>
                  <a:cubicBezTo>
                    <a:pt x="62090" y="121008"/>
                    <a:pt x="70769" y="99978"/>
                    <a:pt x="70769" y="66763"/>
                  </a:cubicBezTo>
                  <a:cubicBezTo>
                    <a:pt x="70769" y="33549"/>
                    <a:pt x="62591" y="13686"/>
                    <a:pt x="44397" y="13686"/>
                  </a:cubicBezTo>
                  <a:cubicBezTo>
                    <a:pt x="29042" y="13686"/>
                    <a:pt x="17859" y="32547"/>
                    <a:pt x="17859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1" name="Freeform: Shape 1582">
              <a:extLst>
                <a:ext uri="{FF2B5EF4-FFF2-40B4-BE49-F238E27FC236}">
                  <a16:creationId xmlns:a16="http://schemas.microsoft.com/office/drawing/2014/main" id="{04D38068-F4F9-5A13-FD75-2A99952C2FCF}"/>
                </a:ext>
              </a:extLst>
            </p:cNvPr>
            <p:cNvSpPr/>
            <p:nvPr/>
          </p:nvSpPr>
          <p:spPr>
            <a:xfrm>
              <a:off x="4926372" y="4876388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4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2" name="Freeform: Shape 1584">
              <a:extLst>
                <a:ext uri="{FF2B5EF4-FFF2-40B4-BE49-F238E27FC236}">
                  <a16:creationId xmlns:a16="http://schemas.microsoft.com/office/drawing/2014/main" id="{4A04B3FA-418D-592E-90FD-E659C49D4808}"/>
                </a:ext>
              </a:extLst>
            </p:cNvPr>
            <p:cNvSpPr/>
            <p:nvPr/>
          </p:nvSpPr>
          <p:spPr>
            <a:xfrm>
              <a:off x="5098196" y="4874523"/>
              <a:ext cx="79108" cy="107415"/>
            </a:xfrm>
            <a:custGeom>
              <a:avLst/>
              <a:gdLst>
                <a:gd name="connsiteX0" fmla="*/ 88294 w 88294"/>
                <a:gd name="connsiteY0" fmla="*/ 65929 h 134527"/>
                <a:gd name="connsiteX1" fmla="*/ 43062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4 w 88294"/>
                <a:gd name="connsiteY4" fmla="*/ 65929 h 134527"/>
                <a:gd name="connsiteX5" fmla="*/ 17525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525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525" y="67932"/>
                  </a:moveTo>
                  <a:cubicBezTo>
                    <a:pt x="17525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9"/>
                    <a:pt x="62423" y="13686"/>
                    <a:pt x="44231" y="13686"/>
                  </a:cubicBezTo>
                  <a:cubicBezTo>
                    <a:pt x="28875" y="13686"/>
                    <a:pt x="17525" y="32547"/>
                    <a:pt x="17525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3" name="Freeform: Shape 1585">
              <a:extLst>
                <a:ext uri="{FF2B5EF4-FFF2-40B4-BE49-F238E27FC236}">
                  <a16:creationId xmlns:a16="http://schemas.microsoft.com/office/drawing/2014/main" id="{7F0A5683-ADF7-E170-DB9F-0456AABFCBBA}"/>
                </a:ext>
              </a:extLst>
            </p:cNvPr>
            <p:cNvSpPr/>
            <p:nvPr/>
          </p:nvSpPr>
          <p:spPr>
            <a:xfrm>
              <a:off x="5294545" y="4876388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5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5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4" name="Freeform: Shape 1586">
              <a:extLst>
                <a:ext uri="{FF2B5EF4-FFF2-40B4-BE49-F238E27FC236}">
                  <a16:creationId xmlns:a16="http://schemas.microsoft.com/office/drawing/2014/main" id="{E844220D-B697-0832-545F-7EB28A933C82}"/>
                </a:ext>
              </a:extLst>
            </p:cNvPr>
            <p:cNvSpPr/>
            <p:nvPr/>
          </p:nvSpPr>
          <p:spPr>
            <a:xfrm>
              <a:off x="5478632" y="4876388"/>
              <a:ext cx="38880" cy="103950"/>
            </a:xfrm>
            <a:custGeom>
              <a:avLst/>
              <a:gdLst>
                <a:gd name="connsiteX0" fmla="*/ 26371 w 43395"/>
                <a:gd name="connsiteY0" fmla="*/ 16357 h 130188"/>
                <a:gd name="connsiteX1" fmla="*/ 26038 w 43395"/>
                <a:gd name="connsiteY1" fmla="*/ 16357 h 130188"/>
                <a:gd name="connsiteX2" fmla="*/ 3338 w 43395"/>
                <a:gd name="connsiteY2" fmla="*/ 28541 h 130188"/>
                <a:gd name="connsiteX3" fmla="*/ 0 w 43395"/>
                <a:gd name="connsiteY3" fmla="*/ 15189 h 130188"/>
                <a:gd name="connsiteX4" fmla="*/ 28374 w 43395"/>
                <a:gd name="connsiteY4" fmla="*/ 0 h 130188"/>
                <a:gd name="connsiteX5" fmla="*/ 43396 w 43395"/>
                <a:gd name="connsiteY5" fmla="*/ 0 h 130188"/>
                <a:gd name="connsiteX6" fmla="*/ 43396 w 43395"/>
                <a:gd name="connsiteY6" fmla="*/ 130188 h 130188"/>
                <a:gd name="connsiteX7" fmla="*/ 26371 w 43395"/>
                <a:gd name="connsiteY7" fmla="*/ 130188 h 130188"/>
                <a:gd name="connsiteX8" fmla="*/ 26371 w 43395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5" h="130188">
                  <a:moveTo>
                    <a:pt x="26371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1" y="130188"/>
                  </a:lnTo>
                  <a:lnTo>
                    <a:pt x="26371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5" name="Freeform: Shape 1587">
              <a:extLst>
                <a:ext uri="{FF2B5EF4-FFF2-40B4-BE49-F238E27FC236}">
                  <a16:creationId xmlns:a16="http://schemas.microsoft.com/office/drawing/2014/main" id="{2D0A4264-464B-563C-A863-06922F00A063}"/>
                </a:ext>
              </a:extLst>
            </p:cNvPr>
            <p:cNvSpPr/>
            <p:nvPr/>
          </p:nvSpPr>
          <p:spPr>
            <a:xfrm>
              <a:off x="5688590" y="4874523"/>
              <a:ext cx="79108" cy="107415"/>
            </a:xfrm>
            <a:custGeom>
              <a:avLst/>
              <a:gdLst>
                <a:gd name="connsiteX0" fmla="*/ 88295 w 88294"/>
                <a:gd name="connsiteY0" fmla="*/ 65929 h 134527"/>
                <a:gd name="connsiteX1" fmla="*/ 43063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5 w 88294"/>
                <a:gd name="connsiteY4" fmla="*/ 65929 h 134527"/>
                <a:gd name="connsiteX5" fmla="*/ 17526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693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5" y="65929"/>
                  </a:moveTo>
                  <a:cubicBezTo>
                    <a:pt x="88295" y="110159"/>
                    <a:pt x="71938" y="134528"/>
                    <a:pt x="43063" y="134528"/>
                  </a:cubicBezTo>
                  <a:cubicBezTo>
                    <a:pt x="17693" y="134528"/>
                    <a:pt x="501" y="110660"/>
                    <a:pt x="0" y="67598"/>
                  </a:cubicBezTo>
                  <a:cubicBezTo>
                    <a:pt x="0" y="24035"/>
                    <a:pt x="18861" y="0"/>
                    <a:pt x="45232" y="0"/>
                  </a:cubicBezTo>
                  <a:cubicBezTo>
                    <a:pt x="71604" y="0"/>
                    <a:pt x="88295" y="24369"/>
                    <a:pt x="88295" y="65929"/>
                  </a:cubicBezTo>
                  <a:close/>
                  <a:moveTo>
                    <a:pt x="17526" y="67932"/>
                  </a:moveTo>
                  <a:cubicBezTo>
                    <a:pt x="17526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9"/>
                    <a:pt x="62424" y="13686"/>
                    <a:pt x="44231" y="13686"/>
                  </a:cubicBezTo>
                  <a:cubicBezTo>
                    <a:pt x="28875" y="13686"/>
                    <a:pt x="17693" y="32547"/>
                    <a:pt x="17693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6" name="Freeform: Shape 1588">
              <a:extLst>
                <a:ext uri="{FF2B5EF4-FFF2-40B4-BE49-F238E27FC236}">
                  <a16:creationId xmlns:a16="http://schemas.microsoft.com/office/drawing/2014/main" id="{05076BC9-1233-B3C4-E516-6B566F94162F}"/>
                </a:ext>
              </a:extLst>
            </p:cNvPr>
            <p:cNvSpPr/>
            <p:nvPr/>
          </p:nvSpPr>
          <p:spPr>
            <a:xfrm>
              <a:off x="5872678" y="4874523"/>
              <a:ext cx="79107" cy="107415"/>
            </a:xfrm>
            <a:custGeom>
              <a:avLst/>
              <a:gdLst>
                <a:gd name="connsiteX0" fmla="*/ 88294 w 88293"/>
                <a:gd name="connsiteY0" fmla="*/ 65929 h 134527"/>
                <a:gd name="connsiteX1" fmla="*/ 43062 w 88293"/>
                <a:gd name="connsiteY1" fmla="*/ 134528 h 134527"/>
                <a:gd name="connsiteX2" fmla="*/ 0 w 88293"/>
                <a:gd name="connsiteY2" fmla="*/ 67598 h 134527"/>
                <a:gd name="connsiteX3" fmla="*/ 45232 w 88293"/>
                <a:gd name="connsiteY3" fmla="*/ 0 h 134527"/>
                <a:gd name="connsiteX4" fmla="*/ 88294 w 88293"/>
                <a:gd name="connsiteY4" fmla="*/ 65929 h 134527"/>
                <a:gd name="connsiteX5" fmla="*/ 17692 w 88293"/>
                <a:gd name="connsiteY5" fmla="*/ 67932 h 134527"/>
                <a:gd name="connsiteX6" fmla="*/ 44063 w 88293"/>
                <a:gd name="connsiteY6" fmla="*/ 121008 h 134527"/>
                <a:gd name="connsiteX7" fmla="*/ 70769 w 88293"/>
                <a:gd name="connsiteY7" fmla="*/ 66763 h 134527"/>
                <a:gd name="connsiteX8" fmla="*/ 44397 w 88293"/>
                <a:gd name="connsiteY8" fmla="*/ 13686 h 134527"/>
                <a:gd name="connsiteX9" fmla="*/ 17859 w 88293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3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692" y="67932"/>
                  </a:moveTo>
                  <a:cubicBezTo>
                    <a:pt x="17692" y="101814"/>
                    <a:pt x="28040" y="121008"/>
                    <a:pt x="44063" y="121008"/>
                  </a:cubicBezTo>
                  <a:cubicBezTo>
                    <a:pt x="62090" y="121008"/>
                    <a:pt x="70769" y="99978"/>
                    <a:pt x="70769" y="66763"/>
                  </a:cubicBezTo>
                  <a:cubicBezTo>
                    <a:pt x="70769" y="33549"/>
                    <a:pt x="62591" y="13686"/>
                    <a:pt x="44397" y="13686"/>
                  </a:cubicBezTo>
                  <a:cubicBezTo>
                    <a:pt x="29042" y="13686"/>
                    <a:pt x="17859" y="32547"/>
                    <a:pt x="17859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7" name="Freeform: Shape 1594">
              <a:extLst>
                <a:ext uri="{FF2B5EF4-FFF2-40B4-BE49-F238E27FC236}">
                  <a16:creationId xmlns:a16="http://schemas.microsoft.com/office/drawing/2014/main" id="{85D19B8E-E966-F0D0-B759-63634740AEC4}"/>
                </a:ext>
              </a:extLst>
            </p:cNvPr>
            <p:cNvSpPr/>
            <p:nvPr/>
          </p:nvSpPr>
          <p:spPr>
            <a:xfrm>
              <a:off x="4926372" y="5068297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4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8" name="Freeform: Shape 1595">
              <a:extLst>
                <a:ext uri="{FF2B5EF4-FFF2-40B4-BE49-F238E27FC236}">
                  <a16:creationId xmlns:a16="http://schemas.microsoft.com/office/drawing/2014/main" id="{AB30FE84-F131-FA5A-BE6D-46AE5F02F45D}"/>
                </a:ext>
              </a:extLst>
            </p:cNvPr>
            <p:cNvSpPr/>
            <p:nvPr/>
          </p:nvSpPr>
          <p:spPr>
            <a:xfrm>
              <a:off x="5098196" y="5066431"/>
              <a:ext cx="79108" cy="107415"/>
            </a:xfrm>
            <a:custGeom>
              <a:avLst/>
              <a:gdLst>
                <a:gd name="connsiteX0" fmla="*/ 88294 w 88294"/>
                <a:gd name="connsiteY0" fmla="*/ 65929 h 134527"/>
                <a:gd name="connsiteX1" fmla="*/ 43062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4 w 88294"/>
                <a:gd name="connsiteY4" fmla="*/ 65929 h 134527"/>
                <a:gd name="connsiteX5" fmla="*/ 17525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525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525" y="67932"/>
                  </a:moveTo>
                  <a:cubicBezTo>
                    <a:pt x="17525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8"/>
                    <a:pt x="62423" y="13686"/>
                    <a:pt x="44231" y="13686"/>
                  </a:cubicBezTo>
                  <a:cubicBezTo>
                    <a:pt x="28875" y="13686"/>
                    <a:pt x="17525" y="32547"/>
                    <a:pt x="17525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9" name="Freeform: Shape 1596">
              <a:extLst>
                <a:ext uri="{FF2B5EF4-FFF2-40B4-BE49-F238E27FC236}">
                  <a16:creationId xmlns:a16="http://schemas.microsoft.com/office/drawing/2014/main" id="{88026E66-78E1-0998-9D35-F8A5DCDABF62}"/>
                </a:ext>
              </a:extLst>
            </p:cNvPr>
            <p:cNvSpPr/>
            <p:nvPr/>
          </p:nvSpPr>
          <p:spPr>
            <a:xfrm>
              <a:off x="5294545" y="5068297"/>
              <a:ext cx="38881" cy="103950"/>
            </a:xfrm>
            <a:custGeom>
              <a:avLst/>
              <a:gdLst>
                <a:gd name="connsiteX0" fmla="*/ 26372 w 43396"/>
                <a:gd name="connsiteY0" fmla="*/ 16357 h 130188"/>
                <a:gd name="connsiteX1" fmla="*/ 26038 w 43396"/>
                <a:gd name="connsiteY1" fmla="*/ 16357 h 130188"/>
                <a:gd name="connsiteX2" fmla="*/ 3338 w 43396"/>
                <a:gd name="connsiteY2" fmla="*/ 28541 h 130188"/>
                <a:gd name="connsiteX3" fmla="*/ 0 w 43396"/>
                <a:gd name="connsiteY3" fmla="*/ 15189 h 130188"/>
                <a:gd name="connsiteX4" fmla="*/ 28375 w 43396"/>
                <a:gd name="connsiteY4" fmla="*/ 0 h 130188"/>
                <a:gd name="connsiteX5" fmla="*/ 43396 w 43396"/>
                <a:gd name="connsiteY5" fmla="*/ 0 h 130188"/>
                <a:gd name="connsiteX6" fmla="*/ 43396 w 43396"/>
                <a:gd name="connsiteY6" fmla="*/ 130188 h 130188"/>
                <a:gd name="connsiteX7" fmla="*/ 26372 w 43396"/>
                <a:gd name="connsiteY7" fmla="*/ 130188 h 130188"/>
                <a:gd name="connsiteX8" fmla="*/ 26372 w 43396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6" h="130188">
                  <a:moveTo>
                    <a:pt x="26372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5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2" y="130188"/>
                  </a:lnTo>
                  <a:lnTo>
                    <a:pt x="26372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10" name="Freeform: Shape 1598">
              <a:extLst>
                <a:ext uri="{FF2B5EF4-FFF2-40B4-BE49-F238E27FC236}">
                  <a16:creationId xmlns:a16="http://schemas.microsoft.com/office/drawing/2014/main" id="{F0F33BA3-D5CC-C03E-99A4-E8802DA4F823}"/>
                </a:ext>
              </a:extLst>
            </p:cNvPr>
            <p:cNvSpPr/>
            <p:nvPr/>
          </p:nvSpPr>
          <p:spPr>
            <a:xfrm>
              <a:off x="5478632" y="5068297"/>
              <a:ext cx="38880" cy="103950"/>
            </a:xfrm>
            <a:custGeom>
              <a:avLst/>
              <a:gdLst>
                <a:gd name="connsiteX0" fmla="*/ 26371 w 43395"/>
                <a:gd name="connsiteY0" fmla="*/ 16357 h 130188"/>
                <a:gd name="connsiteX1" fmla="*/ 26038 w 43395"/>
                <a:gd name="connsiteY1" fmla="*/ 16357 h 130188"/>
                <a:gd name="connsiteX2" fmla="*/ 3338 w 43395"/>
                <a:gd name="connsiteY2" fmla="*/ 28541 h 130188"/>
                <a:gd name="connsiteX3" fmla="*/ 0 w 43395"/>
                <a:gd name="connsiteY3" fmla="*/ 15189 h 130188"/>
                <a:gd name="connsiteX4" fmla="*/ 28374 w 43395"/>
                <a:gd name="connsiteY4" fmla="*/ 0 h 130188"/>
                <a:gd name="connsiteX5" fmla="*/ 43396 w 43395"/>
                <a:gd name="connsiteY5" fmla="*/ 0 h 130188"/>
                <a:gd name="connsiteX6" fmla="*/ 43396 w 43395"/>
                <a:gd name="connsiteY6" fmla="*/ 130188 h 130188"/>
                <a:gd name="connsiteX7" fmla="*/ 26371 w 43395"/>
                <a:gd name="connsiteY7" fmla="*/ 130188 h 130188"/>
                <a:gd name="connsiteX8" fmla="*/ 26371 w 43395"/>
                <a:gd name="connsiteY8" fmla="*/ 16524 h 130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395" h="130188">
                  <a:moveTo>
                    <a:pt x="26371" y="16357"/>
                  </a:moveTo>
                  <a:lnTo>
                    <a:pt x="26038" y="16357"/>
                  </a:lnTo>
                  <a:lnTo>
                    <a:pt x="3338" y="28541"/>
                  </a:lnTo>
                  <a:lnTo>
                    <a:pt x="0" y="15189"/>
                  </a:lnTo>
                  <a:lnTo>
                    <a:pt x="28374" y="0"/>
                  </a:lnTo>
                  <a:lnTo>
                    <a:pt x="43396" y="0"/>
                  </a:lnTo>
                  <a:lnTo>
                    <a:pt x="43396" y="130188"/>
                  </a:lnTo>
                  <a:lnTo>
                    <a:pt x="26371" y="130188"/>
                  </a:lnTo>
                  <a:lnTo>
                    <a:pt x="26371" y="16524"/>
                  </a:ln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11" name="Freeform: Shape 1727">
              <a:extLst>
                <a:ext uri="{FF2B5EF4-FFF2-40B4-BE49-F238E27FC236}">
                  <a16:creationId xmlns:a16="http://schemas.microsoft.com/office/drawing/2014/main" id="{446EB931-0577-D877-C6A0-338E918D59ED}"/>
                </a:ext>
              </a:extLst>
            </p:cNvPr>
            <p:cNvSpPr/>
            <p:nvPr/>
          </p:nvSpPr>
          <p:spPr>
            <a:xfrm>
              <a:off x="5688590" y="5066431"/>
              <a:ext cx="79108" cy="107415"/>
            </a:xfrm>
            <a:custGeom>
              <a:avLst/>
              <a:gdLst>
                <a:gd name="connsiteX0" fmla="*/ 88295 w 88294"/>
                <a:gd name="connsiteY0" fmla="*/ 65929 h 134527"/>
                <a:gd name="connsiteX1" fmla="*/ 43063 w 88294"/>
                <a:gd name="connsiteY1" fmla="*/ 134528 h 134527"/>
                <a:gd name="connsiteX2" fmla="*/ 0 w 88294"/>
                <a:gd name="connsiteY2" fmla="*/ 67598 h 134527"/>
                <a:gd name="connsiteX3" fmla="*/ 45232 w 88294"/>
                <a:gd name="connsiteY3" fmla="*/ 0 h 134527"/>
                <a:gd name="connsiteX4" fmla="*/ 88295 w 88294"/>
                <a:gd name="connsiteY4" fmla="*/ 65929 h 134527"/>
                <a:gd name="connsiteX5" fmla="*/ 17526 w 88294"/>
                <a:gd name="connsiteY5" fmla="*/ 67932 h 134527"/>
                <a:gd name="connsiteX6" fmla="*/ 43897 w 88294"/>
                <a:gd name="connsiteY6" fmla="*/ 121008 h 134527"/>
                <a:gd name="connsiteX7" fmla="*/ 70602 w 88294"/>
                <a:gd name="connsiteY7" fmla="*/ 66763 h 134527"/>
                <a:gd name="connsiteX8" fmla="*/ 44231 w 88294"/>
                <a:gd name="connsiteY8" fmla="*/ 13686 h 134527"/>
                <a:gd name="connsiteX9" fmla="*/ 17693 w 88294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4" h="134527">
                  <a:moveTo>
                    <a:pt x="88295" y="65929"/>
                  </a:moveTo>
                  <a:cubicBezTo>
                    <a:pt x="88295" y="110159"/>
                    <a:pt x="71938" y="134528"/>
                    <a:pt x="43063" y="134528"/>
                  </a:cubicBezTo>
                  <a:cubicBezTo>
                    <a:pt x="17693" y="134528"/>
                    <a:pt x="501" y="110660"/>
                    <a:pt x="0" y="67598"/>
                  </a:cubicBezTo>
                  <a:cubicBezTo>
                    <a:pt x="0" y="24035"/>
                    <a:pt x="18861" y="0"/>
                    <a:pt x="45232" y="0"/>
                  </a:cubicBezTo>
                  <a:cubicBezTo>
                    <a:pt x="71604" y="0"/>
                    <a:pt x="88295" y="24369"/>
                    <a:pt x="88295" y="65929"/>
                  </a:cubicBezTo>
                  <a:close/>
                  <a:moveTo>
                    <a:pt x="17526" y="67932"/>
                  </a:moveTo>
                  <a:cubicBezTo>
                    <a:pt x="17526" y="101814"/>
                    <a:pt x="27874" y="121008"/>
                    <a:pt x="43897" y="121008"/>
                  </a:cubicBezTo>
                  <a:cubicBezTo>
                    <a:pt x="61923" y="121008"/>
                    <a:pt x="70602" y="99978"/>
                    <a:pt x="70602" y="66763"/>
                  </a:cubicBezTo>
                  <a:cubicBezTo>
                    <a:pt x="70602" y="33548"/>
                    <a:pt x="62424" y="13686"/>
                    <a:pt x="44231" y="13686"/>
                  </a:cubicBezTo>
                  <a:cubicBezTo>
                    <a:pt x="28875" y="13686"/>
                    <a:pt x="17693" y="32547"/>
                    <a:pt x="17693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12" name="Freeform: Shape 1728">
              <a:extLst>
                <a:ext uri="{FF2B5EF4-FFF2-40B4-BE49-F238E27FC236}">
                  <a16:creationId xmlns:a16="http://schemas.microsoft.com/office/drawing/2014/main" id="{4FD3A6A6-19E1-897D-D331-8187DF7B69A2}"/>
                </a:ext>
              </a:extLst>
            </p:cNvPr>
            <p:cNvSpPr/>
            <p:nvPr/>
          </p:nvSpPr>
          <p:spPr>
            <a:xfrm>
              <a:off x="5872678" y="5066431"/>
              <a:ext cx="79107" cy="107415"/>
            </a:xfrm>
            <a:custGeom>
              <a:avLst/>
              <a:gdLst>
                <a:gd name="connsiteX0" fmla="*/ 88294 w 88293"/>
                <a:gd name="connsiteY0" fmla="*/ 65929 h 134527"/>
                <a:gd name="connsiteX1" fmla="*/ 43062 w 88293"/>
                <a:gd name="connsiteY1" fmla="*/ 134528 h 134527"/>
                <a:gd name="connsiteX2" fmla="*/ 0 w 88293"/>
                <a:gd name="connsiteY2" fmla="*/ 67598 h 134527"/>
                <a:gd name="connsiteX3" fmla="*/ 45232 w 88293"/>
                <a:gd name="connsiteY3" fmla="*/ 0 h 134527"/>
                <a:gd name="connsiteX4" fmla="*/ 88294 w 88293"/>
                <a:gd name="connsiteY4" fmla="*/ 65929 h 134527"/>
                <a:gd name="connsiteX5" fmla="*/ 17692 w 88293"/>
                <a:gd name="connsiteY5" fmla="*/ 67932 h 134527"/>
                <a:gd name="connsiteX6" fmla="*/ 44063 w 88293"/>
                <a:gd name="connsiteY6" fmla="*/ 121008 h 134527"/>
                <a:gd name="connsiteX7" fmla="*/ 70769 w 88293"/>
                <a:gd name="connsiteY7" fmla="*/ 66763 h 134527"/>
                <a:gd name="connsiteX8" fmla="*/ 44397 w 88293"/>
                <a:gd name="connsiteY8" fmla="*/ 13686 h 134527"/>
                <a:gd name="connsiteX9" fmla="*/ 17859 w 88293"/>
                <a:gd name="connsiteY9" fmla="*/ 67932 h 13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93" h="134527">
                  <a:moveTo>
                    <a:pt x="88294" y="65929"/>
                  </a:moveTo>
                  <a:cubicBezTo>
                    <a:pt x="88294" y="110159"/>
                    <a:pt x="71937" y="134528"/>
                    <a:pt x="43062" y="134528"/>
                  </a:cubicBezTo>
                  <a:cubicBezTo>
                    <a:pt x="17692" y="134528"/>
                    <a:pt x="501" y="110660"/>
                    <a:pt x="0" y="67598"/>
                  </a:cubicBezTo>
                  <a:cubicBezTo>
                    <a:pt x="0" y="24035"/>
                    <a:pt x="18860" y="0"/>
                    <a:pt x="45232" y="0"/>
                  </a:cubicBezTo>
                  <a:cubicBezTo>
                    <a:pt x="71603" y="0"/>
                    <a:pt x="88294" y="24369"/>
                    <a:pt x="88294" y="65929"/>
                  </a:cubicBezTo>
                  <a:close/>
                  <a:moveTo>
                    <a:pt x="17692" y="67932"/>
                  </a:moveTo>
                  <a:cubicBezTo>
                    <a:pt x="17692" y="101814"/>
                    <a:pt x="28040" y="121008"/>
                    <a:pt x="44063" y="121008"/>
                  </a:cubicBezTo>
                  <a:cubicBezTo>
                    <a:pt x="62090" y="121008"/>
                    <a:pt x="70769" y="99978"/>
                    <a:pt x="70769" y="66763"/>
                  </a:cubicBezTo>
                  <a:cubicBezTo>
                    <a:pt x="70769" y="33548"/>
                    <a:pt x="62591" y="13686"/>
                    <a:pt x="44397" y="13686"/>
                  </a:cubicBezTo>
                  <a:cubicBezTo>
                    <a:pt x="29042" y="13686"/>
                    <a:pt x="17859" y="32547"/>
                    <a:pt x="17859" y="67932"/>
                  </a:cubicBezTo>
                  <a:close/>
                </a:path>
              </a:pathLst>
            </a:custGeom>
            <a:grpFill/>
            <a:ln w="16677" cap="flat">
              <a:noFill/>
              <a:prstDash val="solid"/>
              <a:miter/>
            </a:ln>
          </p:spPr>
          <p:txBody>
            <a:bodyPr lIns="22842" tIns="11421" rIns="22842" bIns="11421" rtlCol="0" anchor="ctr"/>
            <a:lstStyle/>
            <a:p>
              <a:pPr marL="0" marR="0" lvl="0" indent="0" algn="l" defTabSz="10740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72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57" name="Rectangle: Rounded Corners 12">
            <a:extLst>
              <a:ext uri="{FF2B5EF4-FFF2-40B4-BE49-F238E27FC236}">
                <a16:creationId xmlns:a16="http://schemas.microsoft.com/office/drawing/2014/main" id="{03E527D6-FB94-9E35-5DC8-204AC12EBAD3}"/>
              </a:ext>
            </a:extLst>
          </p:cNvPr>
          <p:cNvSpPr/>
          <p:nvPr/>
        </p:nvSpPr>
        <p:spPr bwMode="gray">
          <a:xfrm>
            <a:off x="512053" y="2226841"/>
            <a:ext cx="8661352" cy="1929425"/>
          </a:xfrm>
          <a:prstGeom prst="roundRect">
            <a:avLst>
              <a:gd name="adj" fmla="val 6637"/>
            </a:avLst>
          </a:prstGeom>
          <a:solidFill>
            <a:srgbClr val="002A86"/>
          </a:solidFill>
          <a:ln w="19050" cap="flat" cmpd="sng" algn="ctr">
            <a:noFill/>
            <a:prstDash val="solid"/>
          </a:ln>
          <a:effectLst/>
        </p:spPr>
        <p:txBody>
          <a:bodyPr lIns="182688" tIns="182688" rIns="45672" rtlCol="0" anchor="ctr" anchorCtr="0"/>
          <a:lstStyle/>
          <a:p>
            <a:pPr marL="0" marR="0" lvl="0" indent="0" algn="l" defTabSz="9122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72 Brand Medium"/>
              <a:ea typeface="+mn-ea"/>
              <a:cs typeface="+mn-cs"/>
            </a:endParaRPr>
          </a:p>
        </p:txBody>
      </p:sp>
      <p:sp>
        <p:nvSpPr>
          <p:cNvPr id="1851" name="TextBox 1850">
            <a:extLst>
              <a:ext uri="{FF2B5EF4-FFF2-40B4-BE49-F238E27FC236}">
                <a16:creationId xmlns:a16="http://schemas.microsoft.com/office/drawing/2014/main" id="{46B74A94-5C61-8D3C-6FE0-9040C79844F2}"/>
              </a:ext>
            </a:extLst>
          </p:cNvPr>
          <p:cNvSpPr txBox="1"/>
          <p:nvPr/>
        </p:nvSpPr>
        <p:spPr>
          <a:xfrm>
            <a:off x="2556692" y="3111330"/>
            <a:ext cx="891359" cy="430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22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  <a:t>Apps and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  <a:t>extensions</a:t>
            </a:r>
          </a:p>
        </p:txBody>
      </p:sp>
      <p:sp>
        <p:nvSpPr>
          <p:cNvPr id="1935" name="TextBox 1934">
            <a:extLst>
              <a:ext uri="{FF2B5EF4-FFF2-40B4-BE49-F238E27FC236}">
                <a16:creationId xmlns:a16="http://schemas.microsoft.com/office/drawing/2014/main" id="{0E5B5C21-70BB-5FBA-0856-970884F234E2}"/>
              </a:ext>
            </a:extLst>
          </p:cNvPr>
          <p:cNvSpPr txBox="1"/>
          <p:nvPr/>
        </p:nvSpPr>
        <p:spPr>
          <a:xfrm>
            <a:off x="6143388" y="3111330"/>
            <a:ext cx="963475" cy="430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22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  <a:t>Digital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  <a:t>workspaces</a:t>
            </a:r>
          </a:p>
        </p:txBody>
      </p:sp>
      <p:sp>
        <p:nvSpPr>
          <p:cNvPr id="1936" name="TextBox 1935">
            <a:extLst>
              <a:ext uri="{FF2B5EF4-FFF2-40B4-BE49-F238E27FC236}">
                <a16:creationId xmlns:a16="http://schemas.microsoft.com/office/drawing/2014/main" id="{90250C46-2869-D5DD-C66D-9780867B2AED}"/>
              </a:ext>
            </a:extLst>
          </p:cNvPr>
          <p:cNvSpPr txBox="1"/>
          <p:nvPr/>
        </p:nvSpPr>
        <p:spPr>
          <a:xfrm>
            <a:off x="5094191" y="3195945"/>
            <a:ext cx="780780" cy="261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22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  <a:t>AI agents</a:t>
            </a:r>
          </a:p>
        </p:txBody>
      </p:sp>
      <p:sp>
        <p:nvSpPr>
          <p:cNvPr id="1937" name="TextBox 1936">
            <a:extLst>
              <a:ext uri="{FF2B5EF4-FFF2-40B4-BE49-F238E27FC236}">
                <a16:creationId xmlns:a16="http://schemas.microsoft.com/office/drawing/2014/main" id="{C4869359-A281-BC26-3278-FDCF24C580F9}"/>
              </a:ext>
            </a:extLst>
          </p:cNvPr>
          <p:cNvSpPr txBox="1"/>
          <p:nvPr/>
        </p:nvSpPr>
        <p:spPr>
          <a:xfrm>
            <a:off x="3686818" y="3111330"/>
            <a:ext cx="1158991" cy="430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22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  <a:t>Workflows and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+mn-ea"/>
                <a:cs typeface="+mn-cs"/>
              </a:rPr>
              <a:t>automations</a:t>
            </a:r>
          </a:p>
        </p:txBody>
      </p:sp>
      <p:grpSp>
        <p:nvGrpSpPr>
          <p:cNvPr id="1941" name="Group 1940">
            <a:extLst>
              <a:ext uri="{FF2B5EF4-FFF2-40B4-BE49-F238E27FC236}">
                <a16:creationId xmlns:a16="http://schemas.microsoft.com/office/drawing/2014/main" id="{D43E1A49-E276-369F-0250-502D3C4394A1}"/>
              </a:ext>
            </a:extLst>
          </p:cNvPr>
          <p:cNvGrpSpPr/>
          <p:nvPr/>
        </p:nvGrpSpPr>
        <p:grpSpPr>
          <a:xfrm>
            <a:off x="7710442" y="3083868"/>
            <a:ext cx="1060670" cy="623086"/>
            <a:chOff x="8301603" y="3630030"/>
            <a:chExt cx="1060946" cy="623248"/>
          </a:xfrm>
        </p:grpSpPr>
        <p:sp>
          <p:nvSpPr>
            <p:cNvPr id="1939" name="TextBox 1938">
              <a:extLst>
                <a:ext uri="{FF2B5EF4-FFF2-40B4-BE49-F238E27FC236}">
                  <a16:creationId xmlns:a16="http://schemas.microsoft.com/office/drawing/2014/main" id="{730ADD9E-EA07-1DB5-14FB-7777624194D0}"/>
                </a:ext>
              </a:extLst>
            </p:cNvPr>
            <p:cNvSpPr txBox="1"/>
            <p:nvPr/>
          </p:nvSpPr>
          <p:spPr>
            <a:xfrm>
              <a:off x="8522303" y="3630030"/>
              <a:ext cx="840246" cy="6232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073731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1799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9890">
                        <a:srgbClr val="FFFFFF"/>
                      </a:gs>
                      <a:gs pos="48000">
                        <a:srgbClr val="FFFFFF"/>
                      </a:gs>
                    </a:gsLst>
                  </a:gradFill>
                  <a:effectLst/>
                  <a:uLnTx/>
                  <a:uFillTx/>
                  <a:latin typeface="72 Brand Medium"/>
                  <a:ea typeface="+mn-ea"/>
                  <a:cs typeface="+mn-cs"/>
                </a:rPr>
                <a:t>3x</a:t>
              </a:r>
              <a:r>
                <a:rPr kumimoji="0" lang="en-US" sz="2399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9890">
                        <a:srgbClr val="FFFFFF"/>
                      </a:gs>
                      <a:gs pos="48000">
                        <a:srgbClr val="FFFFFF"/>
                      </a:gs>
                    </a:gsLst>
                  </a:gradFill>
                  <a:effectLst/>
                  <a:uLnTx/>
                  <a:uFillTx/>
                  <a:latin typeface="72 Brand Medium"/>
                  <a:ea typeface="+mn-ea"/>
                  <a:cs typeface="+mn-cs"/>
                </a:rPr>
                <a:t> </a:t>
              </a:r>
              <a:br>
                <a:rPr kumimoji="0" lang="en-US" sz="2399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9890">
                        <a:srgbClr val="FFFFFF"/>
                      </a:gs>
                      <a:gs pos="48000">
                        <a:srgbClr val="FFFFFF"/>
                      </a:gs>
                    </a:gsLst>
                  </a:gradFill>
                  <a:effectLst/>
                  <a:uLnTx/>
                  <a:uFillTx/>
                  <a:latin typeface="72 Brand Medium"/>
                  <a:ea typeface="+mn-ea"/>
                  <a:cs typeface="+mn-cs"/>
                </a:rPr>
              </a:br>
              <a:r>
                <a:rPr kumimoji="0" lang="en-US" sz="105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9890">
                        <a:srgbClr val="FFFFFF"/>
                      </a:gs>
                      <a:gs pos="48000">
                        <a:srgbClr val="FFFFFF"/>
                      </a:gs>
                    </a:gsLst>
                    <a:lin ang="0" scaled="1"/>
                  </a:gradFill>
                  <a:effectLst/>
                  <a:uLnTx/>
                  <a:uFillTx/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development </a:t>
              </a:r>
              <a:br>
                <a:rPr kumimoji="0" lang="en-US" sz="105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9890">
                        <a:srgbClr val="FFFFFF"/>
                      </a:gs>
                      <a:gs pos="48000">
                        <a:srgbClr val="FFFFFF"/>
                      </a:gs>
                    </a:gsLst>
                    <a:lin ang="0" scaled="1"/>
                  </a:gradFill>
                  <a:effectLst/>
                  <a:uLnTx/>
                  <a:uFillTx/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</a:br>
              <a:r>
                <a:rPr kumimoji="0" lang="en-US" sz="105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9890">
                        <a:srgbClr val="FFFFFF"/>
                      </a:gs>
                      <a:gs pos="48000">
                        <a:srgbClr val="FFFFFF"/>
                      </a:gs>
                    </a:gsLst>
                    <a:lin ang="0" scaled="1"/>
                  </a:gradFill>
                  <a:effectLst/>
                  <a:uLnTx/>
                  <a:uFillTx/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efficiency</a:t>
              </a:r>
              <a:endParaRPr kumimoji="0" lang="en-US" sz="1100" u="none" strike="noStrike" kern="0" cap="none" spc="0" normalizeH="0" baseline="0" noProof="0" dirty="0">
                <a:ln>
                  <a:noFill/>
                </a:ln>
                <a:gradFill>
                  <a:gsLst>
                    <a:gs pos="9890">
                      <a:srgbClr val="FFFFFF"/>
                    </a:gs>
                    <a:gs pos="48000">
                      <a:srgbClr val="FFFFFF"/>
                    </a:gs>
                  </a:gsLst>
                  <a:lin ang="0" scaled="1"/>
                </a:gradFill>
                <a:effectLst/>
                <a:uLnTx/>
                <a:uFillTx/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cxnSp>
          <p:nvCxnSpPr>
            <p:cNvPr id="1940" name="Straight Arrow Connector 1939">
              <a:extLst>
                <a:ext uri="{FF2B5EF4-FFF2-40B4-BE49-F238E27FC236}">
                  <a16:creationId xmlns:a16="http://schemas.microsoft.com/office/drawing/2014/main" id="{323B31AB-CD10-08E2-B48D-4AE0CD8B76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1603" y="3738666"/>
              <a:ext cx="0" cy="485614"/>
            </a:xfrm>
            <a:prstGeom prst="straightConnector1">
              <a:avLst/>
            </a:prstGeom>
            <a:ln w="60325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rgbClr val="FFF3B8">
                      <a:lumMod val="100000"/>
                    </a:srgbClr>
                  </a:gs>
                </a:gsLst>
                <a:lin ang="5400000" scaled="1"/>
              </a:gra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6" name="Rectangle: Rounded Corners 1798">
            <a:extLst>
              <a:ext uri="{FF2B5EF4-FFF2-40B4-BE49-F238E27FC236}">
                <a16:creationId xmlns:a16="http://schemas.microsoft.com/office/drawing/2014/main" id="{4F26FAE6-C07E-E155-B986-D1046F82BD1F}"/>
              </a:ext>
            </a:extLst>
          </p:cNvPr>
          <p:cNvSpPr/>
          <p:nvPr/>
        </p:nvSpPr>
        <p:spPr bwMode="gray">
          <a:xfrm>
            <a:off x="2272523" y="2894108"/>
            <a:ext cx="4998438" cy="875931"/>
          </a:xfrm>
          <a:prstGeom prst="roundRect">
            <a:avLst>
              <a:gd name="adj" fmla="val 7573"/>
            </a:avLst>
          </a:prstGeom>
          <a:noFill/>
          <a:ln w="9525" algn="ctr">
            <a:solidFill>
              <a:srgbClr val="89D1FF"/>
            </a:solidFill>
            <a:miter lim="800000"/>
            <a:headEnd/>
            <a:tailEnd/>
          </a:ln>
        </p:spPr>
        <p:txBody>
          <a:bodyPr lIns="182736" tIns="146190" rIns="182736" bIns="146190" rtlCol="0" anchor="t"/>
          <a:lstStyle/>
          <a:p>
            <a:pPr marL="0" marR="0" lvl="0" indent="0" algn="l" defTabSz="913578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947" name="TextBox 1946">
            <a:extLst>
              <a:ext uri="{FF2B5EF4-FFF2-40B4-BE49-F238E27FC236}">
                <a16:creationId xmlns:a16="http://schemas.microsoft.com/office/drawing/2014/main" id="{BE3949C7-9F6F-C8FF-B870-5C7385EABFA5}"/>
              </a:ext>
            </a:extLst>
          </p:cNvPr>
          <p:cNvSpPr txBox="1"/>
          <p:nvPr/>
        </p:nvSpPr>
        <p:spPr>
          <a:xfrm>
            <a:off x="4067192" y="3856914"/>
            <a:ext cx="1385892" cy="176953"/>
          </a:xfrm>
          <a:prstGeom prst="rect">
            <a:avLst/>
          </a:prstGeom>
          <a:noFill/>
        </p:spPr>
        <p:txBody>
          <a:bodyPr wrap="square" lIns="22842" tIns="11421" rIns="22842" bIns="11421">
            <a:spAutoFit/>
          </a:bodyPr>
          <a:lstStyle/>
          <a:p>
            <a:pPr marL="0" marR="0" lvl="0" indent="0" algn="ctr" defTabSz="108747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</a:rPr>
              <a:t>Pro-code and low-code</a:t>
            </a:r>
            <a:endParaRPr kumimoji="0" lang="en-US" sz="110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5C230DC-0E7D-F372-0668-A98B514D954D}"/>
              </a:ext>
            </a:extLst>
          </p:cNvPr>
          <p:cNvGrpSpPr/>
          <p:nvPr/>
        </p:nvGrpSpPr>
        <p:grpSpPr>
          <a:xfrm>
            <a:off x="512052" y="4249554"/>
            <a:ext cx="8667267" cy="701052"/>
            <a:chOff x="840120" y="4789621"/>
            <a:chExt cx="8669524" cy="701235"/>
          </a:xfrm>
          <a:solidFill>
            <a:srgbClr val="002A86"/>
          </a:solidFill>
        </p:grpSpPr>
        <p:sp>
          <p:nvSpPr>
            <p:cNvPr id="1957" name="Rectangle: Rounded Corners 6">
              <a:extLst>
                <a:ext uri="{FF2B5EF4-FFF2-40B4-BE49-F238E27FC236}">
                  <a16:creationId xmlns:a16="http://schemas.microsoft.com/office/drawing/2014/main" id="{81ED3AC2-8EBF-4DFF-43FD-1029CBD5A3D3}"/>
                </a:ext>
              </a:extLst>
            </p:cNvPr>
            <p:cNvSpPr/>
            <p:nvPr/>
          </p:nvSpPr>
          <p:spPr bwMode="gray">
            <a:xfrm>
              <a:off x="5131274" y="4789621"/>
              <a:ext cx="4378370" cy="701235"/>
            </a:xfrm>
            <a:prstGeom prst="roundRect">
              <a:avLst>
                <a:gd name="adj" fmla="val 12247"/>
              </a:avLst>
            </a:prstGeom>
            <a:solidFill>
              <a:srgbClr val="002A86"/>
            </a:solidFill>
            <a:ln w="15238" cap="flat">
              <a:noFill/>
              <a:prstDash val="solid"/>
              <a:miter/>
            </a:ln>
            <a:effectLst/>
          </p:spPr>
          <p:txBody>
            <a:bodyPr lIns="22842" tIns="11421" rIns="22842" bIns="11421" rtlCol="0" anchor="ctr"/>
            <a:lstStyle/>
            <a:p>
              <a:pPr marL="0" marR="0" lvl="0" indent="0" algn="l" defTabSz="10730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9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endParaRPr>
            </a:p>
          </p:txBody>
        </p:sp>
        <p:sp>
          <p:nvSpPr>
            <p:cNvPr id="916" name="Rectangle: Rounded Corners 6">
              <a:extLst>
                <a:ext uri="{FF2B5EF4-FFF2-40B4-BE49-F238E27FC236}">
                  <a16:creationId xmlns:a16="http://schemas.microsoft.com/office/drawing/2014/main" id="{B19CE2ED-E2DC-9366-064F-F56D9693FAA4}"/>
                </a:ext>
              </a:extLst>
            </p:cNvPr>
            <p:cNvSpPr/>
            <p:nvPr/>
          </p:nvSpPr>
          <p:spPr bwMode="gray">
            <a:xfrm>
              <a:off x="840120" y="4789621"/>
              <a:ext cx="4219060" cy="701235"/>
            </a:xfrm>
            <a:prstGeom prst="roundRect">
              <a:avLst>
                <a:gd name="adj" fmla="val 12247"/>
              </a:avLst>
            </a:prstGeom>
            <a:solidFill>
              <a:srgbClr val="002A86"/>
            </a:solidFill>
            <a:ln w="15238" cap="flat">
              <a:noFill/>
              <a:prstDash val="solid"/>
              <a:miter/>
            </a:ln>
            <a:effectLst/>
          </p:spPr>
          <p:txBody>
            <a:bodyPr lIns="22842" tIns="11421" rIns="22842" bIns="11421" rtlCol="0" anchor="ctr"/>
            <a:lstStyle/>
            <a:p>
              <a:pPr marL="0" marR="0" lvl="0" indent="0" algn="ctr" defTabSz="91229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/>
                <a:ea typeface="+mn-ea"/>
                <a:cs typeface="+mn-cs"/>
              </a:endParaRPr>
            </a:p>
          </p:txBody>
        </p:sp>
        <p:sp>
          <p:nvSpPr>
            <p:cNvPr id="1958" name="TextBox 1957">
              <a:extLst>
                <a:ext uri="{FF2B5EF4-FFF2-40B4-BE49-F238E27FC236}">
                  <a16:creationId xmlns:a16="http://schemas.microsoft.com/office/drawing/2014/main" id="{D7EC90AE-AD33-3247-BAE5-A8368A0CC3F6}"/>
                </a:ext>
              </a:extLst>
            </p:cNvPr>
            <p:cNvSpPr txBox="1"/>
            <p:nvPr/>
          </p:nvSpPr>
          <p:spPr>
            <a:xfrm>
              <a:off x="959408" y="5065425"/>
              <a:ext cx="708712" cy="16624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1073731" fontAlgn="base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defRPr/>
              </a:pPr>
              <a:r>
                <a:rPr lang="en-US" sz="1200" b="1" kern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atin typeface="72 Brand Medium"/>
                </a:rPr>
                <a:t>AI copilot</a:t>
              </a:r>
            </a:p>
          </p:txBody>
        </p:sp>
        <p:sp>
          <p:nvSpPr>
            <p:cNvPr id="1959" name="TextBox 1958">
              <a:extLst>
                <a:ext uri="{FF2B5EF4-FFF2-40B4-BE49-F238E27FC236}">
                  <a16:creationId xmlns:a16="http://schemas.microsoft.com/office/drawing/2014/main" id="{09A5E5DD-8E04-8E7E-4B34-2B093D31618F}"/>
                </a:ext>
              </a:extLst>
            </p:cNvPr>
            <p:cNvSpPr txBox="1"/>
            <p:nvPr/>
          </p:nvSpPr>
          <p:spPr>
            <a:xfrm>
              <a:off x="5400005" y="4982303"/>
              <a:ext cx="785471" cy="3324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1073731" fontAlgn="base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defRPr/>
              </a:pPr>
              <a:r>
                <a:rPr lang="en-US" sz="1200" b="1" kern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atin typeface="72 Brand Medium"/>
                </a:rPr>
                <a:t>Prebuilt</a:t>
              </a:r>
              <a:br>
                <a:rPr lang="en-US" sz="1200" b="1" kern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atin typeface="72 Brand Medium"/>
                </a:rPr>
              </a:br>
              <a:r>
                <a:rPr lang="en-US" sz="1200" b="1" kern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atin typeface="72 Brand Medium"/>
                </a:rPr>
                <a:t>solutions</a:t>
              </a:r>
            </a:p>
          </p:txBody>
        </p:sp>
        <p:sp>
          <p:nvSpPr>
            <p:cNvPr id="1961" name="TextBox 1960">
              <a:extLst>
                <a:ext uri="{FF2B5EF4-FFF2-40B4-BE49-F238E27FC236}">
                  <a16:creationId xmlns:a16="http://schemas.microsoft.com/office/drawing/2014/main" id="{3CF57536-002D-A3CD-B65F-5AD8F0B0C654}"/>
                </a:ext>
              </a:extLst>
            </p:cNvPr>
            <p:cNvSpPr txBox="1"/>
            <p:nvPr/>
          </p:nvSpPr>
          <p:spPr>
            <a:xfrm>
              <a:off x="1850637" y="4948438"/>
              <a:ext cx="3165036" cy="400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229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72 Brand" panose="020B0504030603020204" pitchFamily="34" charset="0"/>
                </a:rPr>
                <a:t>SAP’s proprietary models, contextual, </a:t>
              </a:r>
              <a:br>
                <a:rPr kumimoji="0" lang="en-US" sz="100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72 Brand" panose="020B0504030603020204" pitchFamily="34" charset="0"/>
                </a:rPr>
              </a:br>
              <a:r>
                <a:rPr kumimoji="0" lang="en-US" sz="100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72 Brand" panose="020B0504030603020204" pitchFamily="34" charset="0"/>
                </a:rPr>
                <a:t>and partner ecosystem</a:t>
              </a:r>
              <a:endParaRPr kumimoji="0" lang="en-US" sz="110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</a:endParaRPr>
            </a:p>
          </p:txBody>
        </p:sp>
        <p:sp>
          <p:nvSpPr>
            <p:cNvPr id="1963" name="TextBox 1962">
              <a:extLst>
                <a:ext uri="{FF2B5EF4-FFF2-40B4-BE49-F238E27FC236}">
                  <a16:creationId xmlns:a16="http://schemas.microsoft.com/office/drawing/2014/main" id="{B8600B2B-300C-D1B4-8D4E-9E2F6B1A9235}"/>
                </a:ext>
              </a:extLst>
            </p:cNvPr>
            <p:cNvSpPr txBox="1"/>
            <p:nvPr/>
          </p:nvSpPr>
          <p:spPr>
            <a:xfrm>
              <a:off x="6158346" y="5025436"/>
              <a:ext cx="317342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1086492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72 Brand" panose="020B0504030603020204" pitchFamily="34" charset="0"/>
                </a:rPr>
                <a:t>500+ finance, HCM, supply chain, and beyond</a:t>
              </a:r>
            </a:p>
          </p:txBody>
        </p:sp>
      </p:grpSp>
      <p:grpSp>
        <p:nvGrpSpPr>
          <p:cNvPr id="907" name="Group 906">
            <a:extLst>
              <a:ext uri="{FF2B5EF4-FFF2-40B4-BE49-F238E27FC236}">
                <a16:creationId xmlns:a16="http://schemas.microsoft.com/office/drawing/2014/main" id="{65B57DDC-46DD-1992-9B9F-BE4B5EED1E65}"/>
              </a:ext>
            </a:extLst>
          </p:cNvPr>
          <p:cNvGrpSpPr/>
          <p:nvPr/>
        </p:nvGrpSpPr>
        <p:grpSpPr>
          <a:xfrm rot="14522375">
            <a:off x="8859794" y="5479717"/>
            <a:ext cx="106471" cy="169337"/>
            <a:chOff x="1781040" y="3052066"/>
            <a:chExt cx="141719" cy="225394"/>
          </a:xfrm>
        </p:grpSpPr>
        <p:sp>
          <p:nvSpPr>
            <p:cNvPr id="908" name="Rectangle 907">
              <a:extLst>
                <a:ext uri="{FF2B5EF4-FFF2-40B4-BE49-F238E27FC236}">
                  <a16:creationId xmlns:a16="http://schemas.microsoft.com/office/drawing/2014/main" id="{5D13171B-3710-8175-0F5A-DB7606F87282}"/>
                </a:ext>
              </a:extLst>
            </p:cNvPr>
            <p:cNvSpPr/>
            <p:nvPr/>
          </p:nvSpPr>
          <p:spPr bwMode="gray">
            <a:xfrm rot="18025869">
              <a:off x="1803309" y="3093562"/>
              <a:ext cx="160946" cy="7795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162381" tIns="129904" rIns="162381" bIns="129904" rtlCol="0" anchor="t"/>
            <a:lstStyle/>
            <a:p>
              <a:pPr marL="0" marR="0" lvl="0" indent="0" algn="l" defTabSz="90203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086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909" name="Rectangle 157">
              <a:extLst>
                <a:ext uri="{FF2B5EF4-FFF2-40B4-BE49-F238E27FC236}">
                  <a16:creationId xmlns:a16="http://schemas.microsoft.com/office/drawing/2014/main" id="{5E9B3B98-F4AF-ABC1-5859-97F0190CA3E2}"/>
                </a:ext>
              </a:extLst>
            </p:cNvPr>
            <p:cNvSpPr/>
            <p:nvPr/>
          </p:nvSpPr>
          <p:spPr bwMode="gray">
            <a:xfrm rot="15300000">
              <a:off x="1781040" y="3208041"/>
              <a:ext cx="69419" cy="69419"/>
            </a:xfrm>
            <a:custGeom>
              <a:avLst/>
              <a:gdLst>
                <a:gd name="connsiteX0" fmla="*/ 0 w 904351"/>
                <a:gd name="connsiteY0" fmla="*/ 0 h 904351"/>
                <a:gd name="connsiteX1" fmla="*/ 904351 w 904351"/>
                <a:gd name="connsiteY1" fmla="*/ 0 h 904351"/>
                <a:gd name="connsiteX2" fmla="*/ 904351 w 904351"/>
                <a:gd name="connsiteY2" fmla="*/ 904351 h 904351"/>
                <a:gd name="connsiteX3" fmla="*/ 0 w 904351"/>
                <a:gd name="connsiteY3" fmla="*/ 904351 h 904351"/>
                <a:gd name="connsiteX4" fmla="*/ 0 w 904351"/>
                <a:gd name="connsiteY4" fmla="*/ 0 h 904351"/>
                <a:gd name="connsiteX0" fmla="*/ 0 w 904351"/>
                <a:gd name="connsiteY0" fmla="*/ 0 h 904351"/>
                <a:gd name="connsiteX1" fmla="*/ 904351 w 904351"/>
                <a:gd name="connsiteY1" fmla="*/ 0 h 904351"/>
                <a:gd name="connsiteX2" fmla="*/ 904351 w 904351"/>
                <a:gd name="connsiteY2" fmla="*/ 904351 h 904351"/>
                <a:gd name="connsiteX3" fmla="*/ 0 w 904351"/>
                <a:gd name="connsiteY3" fmla="*/ 904351 h 904351"/>
                <a:gd name="connsiteX4" fmla="*/ 91440 w 904351"/>
                <a:gd name="connsiteY4" fmla="*/ 91440 h 904351"/>
                <a:gd name="connsiteX0" fmla="*/ 0 w 904351"/>
                <a:gd name="connsiteY0" fmla="*/ 0 h 904351"/>
                <a:gd name="connsiteX1" fmla="*/ 904351 w 904351"/>
                <a:gd name="connsiteY1" fmla="*/ 0 h 904351"/>
                <a:gd name="connsiteX2" fmla="*/ 904351 w 904351"/>
                <a:gd name="connsiteY2" fmla="*/ 904351 h 904351"/>
                <a:gd name="connsiteX3" fmla="*/ 0 w 904351"/>
                <a:gd name="connsiteY3" fmla="*/ 904351 h 904351"/>
                <a:gd name="connsiteX0" fmla="*/ 904351 w 904351"/>
                <a:gd name="connsiteY0" fmla="*/ 0 h 904351"/>
                <a:gd name="connsiteX1" fmla="*/ 904351 w 904351"/>
                <a:gd name="connsiteY1" fmla="*/ 904351 h 904351"/>
                <a:gd name="connsiteX2" fmla="*/ 0 w 904351"/>
                <a:gd name="connsiteY2" fmla="*/ 904351 h 90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04351" h="904351">
                  <a:moveTo>
                    <a:pt x="904351" y="0"/>
                  </a:moveTo>
                  <a:lnTo>
                    <a:pt x="904351" y="904351"/>
                  </a:lnTo>
                  <a:lnTo>
                    <a:pt x="0" y="904351"/>
                  </a:lnTo>
                </a:path>
              </a:pathLst>
            </a:custGeom>
            <a:noFill/>
            <a:ln w="11430" cap="rnd" algn="ctr">
              <a:gradFill>
                <a:gsLst>
                  <a:gs pos="0">
                    <a:srgbClr val="89D1FF"/>
                  </a:gs>
                  <a:gs pos="100000">
                    <a:srgbClr val="1B90FF"/>
                  </a:gs>
                </a:gsLst>
                <a:lin ang="5400000" scaled="1"/>
              </a:gradFill>
              <a:round/>
              <a:headEnd/>
              <a:tailEnd/>
            </a:ln>
          </p:spPr>
          <p:txBody>
            <a:bodyPr lIns="162381" tIns="129904" rIns="162381" bIns="129904" rtlCol="0" anchor="t"/>
            <a:lstStyle/>
            <a:p>
              <a:pPr marL="0" marR="0" lvl="0" indent="0" algn="l" defTabSz="90203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086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31" name="Rectangle 930">
            <a:extLst>
              <a:ext uri="{FF2B5EF4-FFF2-40B4-BE49-F238E27FC236}">
                <a16:creationId xmlns:a16="http://schemas.microsoft.com/office/drawing/2014/main" id="{16FAA919-F74E-0A12-9494-0420BCC522BE}"/>
              </a:ext>
            </a:extLst>
          </p:cNvPr>
          <p:cNvSpPr/>
          <p:nvPr/>
        </p:nvSpPr>
        <p:spPr bwMode="gray">
          <a:xfrm rot="5400000">
            <a:off x="9433214" y="3198674"/>
            <a:ext cx="120917" cy="5856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162381" tIns="129904" rIns="162381" bIns="129904" rtlCol="0" anchor="t"/>
          <a:lstStyle/>
          <a:p>
            <a:pPr marL="0" marR="0" lvl="0" indent="0" algn="l" defTabSz="902035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0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32" name="Rectangle 157">
            <a:extLst>
              <a:ext uri="{FF2B5EF4-FFF2-40B4-BE49-F238E27FC236}">
                <a16:creationId xmlns:a16="http://schemas.microsoft.com/office/drawing/2014/main" id="{859BE658-05D1-C282-779E-CC0F8637B829}"/>
              </a:ext>
            </a:extLst>
          </p:cNvPr>
          <p:cNvSpPr/>
          <p:nvPr/>
        </p:nvSpPr>
        <p:spPr bwMode="gray">
          <a:xfrm rot="2514581">
            <a:off x="9474022" y="3112889"/>
            <a:ext cx="52153" cy="52153"/>
          </a:xfrm>
          <a:custGeom>
            <a:avLst/>
            <a:gdLst>
              <a:gd name="connsiteX0" fmla="*/ 0 w 904351"/>
              <a:gd name="connsiteY0" fmla="*/ 0 h 904351"/>
              <a:gd name="connsiteX1" fmla="*/ 904351 w 904351"/>
              <a:gd name="connsiteY1" fmla="*/ 0 h 904351"/>
              <a:gd name="connsiteX2" fmla="*/ 904351 w 904351"/>
              <a:gd name="connsiteY2" fmla="*/ 904351 h 904351"/>
              <a:gd name="connsiteX3" fmla="*/ 0 w 904351"/>
              <a:gd name="connsiteY3" fmla="*/ 904351 h 904351"/>
              <a:gd name="connsiteX4" fmla="*/ 0 w 904351"/>
              <a:gd name="connsiteY4" fmla="*/ 0 h 904351"/>
              <a:gd name="connsiteX0" fmla="*/ 0 w 904351"/>
              <a:gd name="connsiteY0" fmla="*/ 0 h 904351"/>
              <a:gd name="connsiteX1" fmla="*/ 904351 w 904351"/>
              <a:gd name="connsiteY1" fmla="*/ 0 h 904351"/>
              <a:gd name="connsiteX2" fmla="*/ 904351 w 904351"/>
              <a:gd name="connsiteY2" fmla="*/ 904351 h 904351"/>
              <a:gd name="connsiteX3" fmla="*/ 0 w 904351"/>
              <a:gd name="connsiteY3" fmla="*/ 904351 h 904351"/>
              <a:gd name="connsiteX4" fmla="*/ 91440 w 904351"/>
              <a:gd name="connsiteY4" fmla="*/ 91440 h 904351"/>
              <a:gd name="connsiteX0" fmla="*/ 0 w 904351"/>
              <a:gd name="connsiteY0" fmla="*/ 0 h 904351"/>
              <a:gd name="connsiteX1" fmla="*/ 904351 w 904351"/>
              <a:gd name="connsiteY1" fmla="*/ 0 h 904351"/>
              <a:gd name="connsiteX2" fmla="*/ 904351 w 904351"/>
              <a:gd name="connsiteY2" fmla="*/ 904351 h 904351"/>
              <a:gd name="connsiteX3" fmla="*/ 0 w 904351"/>
              <a:gd name="connsiteY3" fmla="*/ 904351 h 904351"/>
              <a:gd name="connsiteX0" fmla="*/ 904351 w 904351"/>
              <a:gd name="connsiteY0" fmla="*/ 0 h 904351"/>
              <a:gd name="connsiteX1" fmla="*/ 904351 w 904351"/>
              <a:gd name="connsiteY1" fmla="*/ 904351 h 904351"/>
              <a:gd name="connsiteX2" fmla="*/ 0 w 904351"/>
              <a:gd name="connsiteY2" fmla="*/ 904351 h 904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4351" h="904351">
                <a:moveTo>
                  <a:pt x="904351" y="0"/>
                </a:moveTo>
                <a:lnTo>
                  <a:pt x="904351" y="904351"/>
                </a:lnTo>
                <a:lnTo>
                  <a:pt x="0" y="904351"/>
                </a:lnTo>
              </a:path>
            </a:pathLst>
          </a:custGeom>
          <a:noFill/>
          <a:ln w="11430" cap="rnd" algn="ctr">
            <a:gradFill>
              <a:gsLst>
                <a:gs pos="0">
                  <a:srgbClr val="89D1FF"/>
                </a:gs>
                <a:gs pos="100000">
                  <a:srgbClr val="1B90FF"/>
                </a:gs>
              </a:gsLst>
              <a:lin ang="5400000" scaled="1"/>
            </a:gradFill>
            <a:round/>
            <a:headEnd/>
            <a:tailEnd/>
          </a:ln>
        </p:spPr>
        <p:txBody>
          <a:bodyPr lIns="162381" tIns="129904" rIns="162381" bIns="129904" rtlCol="0" anchor="t"/>
          <a:lstStyle/>
          <a:p>
            <a:pPr marL="0" marR="0" lvl="0" indent="0" algn="l" defTabSz="902035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0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3" name="Rectangle 932">
            <a:extLst>
              <a:ext uri="{FF2B5EF4-FFF2-40B4-BE49-F238E27FC236}">
                <a16:creationId xmlns:a16="http://schemas.microsoft.com/office/drawing/2014/main" id="{35869EB4-9E5B-5042-01D4-6F93B1A937E2}"/>
              </a:ext>
            </a:extLst>
          </p:cNvPr>
          <p:cNvSpPr/>
          <p:nvPr/>
        </p:nvSpPr>
        <p:spPr bwMode="gray">
          <a:xfrm rot="16107478">
            <a:off x="798345" y="5078804"/>
            <a:ext cx="120917" cy="5856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162381" tIns="129904" rIns="162381" bIns="129904" rtlCol="0" anchor="t"/>
          <a:lstStyle/>
          <a:p>
            <a:pPr marL="0" marR="0" lvl="0" indent="0" algn="l" defTabSz="902035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0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34" name="Rectangle 157">
            <a:extLst>
              <a:ext uri="{FF2B5EF4-FFF2-40B4-BE49-F238E27FC236}">
                <a16:creationId xmlns:a16="http://schemas.microsoft.com/office/drawing/2014/main" id="{0E81E804-02B5-74FC-9D0A-717F01903CD9}"/>
              </a:ext>
            </a:extLst>
          </p:cNvPr>
          <p:cNvSpPr/>
          <p:nvPr/>
        </p:nvSpPr>
        <p:spPr bwMode="gray">
          <a:xfrm rot="13381609">
            <a:off x="829512" y="5179596"/>
            <a:ext cx="52153" cy="52153"/>
          </a:xfrm>
          <a:custGeom>
            <a:avLst/>
            <a:gdLst>
              <a:gd name="connsiteX0" fmla="*/ 0 w 904351"/>
              <a:gd name="connsiteY0" fmla="*/ 0 h 904351"/>
              <a:gd name="connsiteX1" fmla="*/ 904351 w 904351"/>
              <a:gd name="connsiteY1" fmla="*/ 0 h 904351"/>
              <a:gd name="connsiteX2" fmla="*/ 904351 w 904351"/>
              <a:gd name="connsiteY2" fmla="*/ 904351 h 904351"/>
              <a:gd name="connsiteX3" fmla="*/ 0 w 904351"/>
              <a:gd name="connsiteY3" fmla="*/ 904351 h 904351"/>
              <a:gd name="connsiteX4" fmla="*/ 0 w 904351"/>
              <a:gd name="connsiteY4" fmla="*/ 0 h 904351"/>
              <a:gd name="connsiteX0" fmla="*/ 0 w 904351"/>
              <a:gd name="connsiteY0" fmla="*/ 0 h 904351"/>
              <a:gd name="connsiteX1" fmla="*/ 904351 w 904351"/>
              <a:gd name="connsiteY1" fmla="*/ 0 h 904351"/>
              <a:gd name="connsiteX2" fmla="*/ 904351 w 904351"/>
              <a:gd name="connsiteY2" fmla="*/ 904351 h 904351"/>
              <a:gd name="connsiteX3" fmla="*/ 0 w 904351"/>
              <a:gd name="connsiteY3" fmla="*/ 904351 h 904351"/>
              <a:gd name="connsiteX4" fmla="*/ 91440 w 904351"/>
              <a:gd name="connsiteY4" fmla="*/ 91440 h 904351"/>
              <a:gd name="connsiteX0" fmla="*/ 0 w 904351"/>
              <a:gd name="connsiteY0" fmla="*/ 0 h 904351"/>
              <a:gd name="connsiteX1" fmla="*/ 904351 w 904351"/>
              <a:gd name="connsiteY1" fmla="*/ 0 h 904351"/>
              <a:gd name="connsiteX2" fmla="*/ 904351 w 904351"/>
              <a:gd name="connsiteY2" fmla="*/ 904351 h 904351"/>
              <a:gd name="connsiteX3" fmla="*/ 0 w 904351"/>
              <a:gd name="connsiteY3" fmla="*/ 904351 h 904351"/>
              <a:gd name="connsiteX0" fmla="*/ 904351 w 904351"/>
              <a:gd name="connsiteY0" fmla="*/ 0 h 904351"/>
              <a:gd name="connsiteX1" fmla="*/ 904351 w 904351"/>
              <a:gd name="connsiteY1" fmla="*/ 904351 h 904351"/>
              <a:gd name="connsiteX2" fmla="*/ 0 w 904351"/>
              <a:gd name="connsiteY2" fmla="*/ 904351 h 904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4351" h="904351">
                <a:moveTo>
                  <a:pt x="904351" y="0"/>
                </a:moveTo>
                <a:lnTo>
                  <a:pt x="904351" y="904351"/>
                </a:lnTo>
                <a:lnTo>
                  <a:pt x="0" y="904351"/>
                </a:lnTo>
              </a:path>
            </a:pathLst>
          </a:custGeom>
          <a:noFill/>
          <a:ln w="11430" cap="rnd" algn="ctr">
            <a:gradFill>
              <a:gsLst>
                <a:gs pos="0">
                  <a:srgbClr val="89D1FF"/>
                </a:gs>
                <a:gs pos="100000">
                  <a:srgbClr val="1B90FF"/>
                </a:gs>
              </a:gsLst>
              <a:lin ang="5400000" scaled="1"/>
            </a:gradFill>
            <a:round/>
            <a:headEnd/>
            <a:tailEnd/>
          </a:ln>
        </p:spPr>
        <p:txBody>
          <a:bodyPr lIns="162381" tIns="129904" rIns="162381" bIns="129904" rtlCol="0" anchor="t"/>
          <a:lstStyle/>
          <a:p>
            <a:pPr marL="0" marR="0" lvl="0" indent="0" algn="l" defTabSz="902035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08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09E839B-BFDD-9CE9-06E3-63A4C8E7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8380" y="46526"/>
          <a:ext cx="341" cy="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9E839B-BFDD-9CE9-06E3-63A4C8E7D5DD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0" y="46526"/>
                        <a:ext cx="341" cy="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0" name="Rectangle 939">
            <a:extLst>
              <a:ext uri="{FF2B5EF4-FFF2-40B4-BE49-F238E27FC236}">
                <a16:creationId xmlns:a16="http://schemas.microsoft.com/office/drawing/2014/main" id="{39149460-EE0C-14DE-6BA6-1D9A45A45C99}"/>
              </a:ext>
            </a:extLst>
          </p:cNvPr>
          <p:cNvSpPr/>
          <p:nvPr/>
        </p:nvSpPr>
        <p:spPr bwMode="auto">
          <a:xfrm>
            <a:off x="9731859" y="2493878"/>
            <a:ext cx="2043291" cy="507699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1087144">
              <a:spcAft>
                <a:spcPts val="600"/>
              </a:spcAft>
              <a:defRPr/>
            </a:pPr>
            <a:r>
              <a:rPr lang="en-US" sz="1600" dirty="0">
                <a:gradFill>
                  <a:gsLst>
                    <a:gs pos="0">
                      <a:srgbClr val="000000"/>
                    </a:gs>
                    <a:gs pos="100000">
                      <a:srgbClr val="00144A"/>
                    </a:gs>
                  </a:gsLst>
                  <a:lin ang="5400000" scaled="1"/>
                </a:gradFill>
                <a:latin typeface="72 Brand Medium" panose="020B0504030603020204" pitchFamily="34" charset="0"/>
                <a:ea typeface="+mn-lt"/>
                <a:cs typeface="+mn-lt"/>
              </a:rPr>
              <a:t>Start quickly</a:t>
            </a:r>
          </a:p>
          <a:p>
            <a:pPr marL="0" marR="0" lvl="0" indent="0" algn="l" defTabSz="10874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72 Brand" panose="020B0504030603020204" pitchFamily="34" charset="0"/>
                <a:cs typeface="72"/>
              </a:rPr>
              <a:t>with AI and prebuilt solutions</a:t>
            </a:r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98B78EDB-3E84-3AD1-3135-430AF8F58FEC}"/>
              </a:ext>
            </a:extLst>
          </p:cNvPr>
          <p:cNvSpPr/>
          <p:nvPr/>
        </p:nvSpPr>
        <p:spPr bwMode="auto">
          <a:xfrm>
            <a:off x="9784865" y="3477494"/>
            <a:ext cx="2367544" cy="69231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087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/>
                    </a:gs>
                    <a:gs pos="100000">
                      <a:srgbClr val="00144A"/>
                    </a:gs>
                  </a:gsLst>
                  <a:lin ang="5400000" scaled="1"/>
                </a:gradFill>
                <a:effectLst/>
                <a:uLnTx/>
                <a:uFillTx/>
                <a:latin typeface="72 Brand Medium" panose="020B0504030603020204" pitchFamily="34" charset="0"/>
                <a:ea typeface="+mn-lt"/>
                <a:cs typeface="+mn-lt"/>
              </a:rPr>
              <a:t>Deliver faster</a:t>
            </a:r>
          </a:p>
          <a:p>
            <a:pPr marL="0" marR="0" lvl="0" indent="0" algn="l" defTabSz="1087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44A"/>
                    </a:gs>
                    <a:gs pos="100000">
                      <a:srgbClr val="00144A"/>
                    </a:gs>
                  </a:gsLst>
                  <a:lin ang="2700000" scaled="1"/>
                </a:gradFill>
                <a:effectLst/>
                <a:uLnTx/>
                <a:uFillTx/>
                <a:latin typeface="72 Brand"/>
                <a:ea typeface="+mn-ea"/>
                <a:cs typeface="72"/>
              </a:rPr>
              <a:t>with tools for every role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/>
                    </a:gs>
                    <a:gs pos="100000">
                      <a:srgbClr val="00144A"/>
                    </a:gs>
                  </a:gsLst>
                  <a:lin ang="5400000" scaled="1"/>
                </a:gradFill>
                <a:effectLst/>
                <a:uLnTx/>
                <a:uFillTx/>
                <a:latin typeface="72 Brand"/>
                <a:ea typeface="+mn-lt"/>
                <a:cs typeface="+mn-lt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0000"/>
                  </a:gs>
                  <a:gs pos="100000">
                    <a:srgbClr val="00144A"/>
                  </a:gs>
                </a:gsLst>
                <a:lin ang="5400000" scaled="1"/>
              </a:gradFill>
              <a:effectLst/>
              <a:uLnTx/>
              <a:uFillTx/>
              <a:latin typeface="72 Brand"/>
              <a:ea typeface="+mn-lt"/>
              <a:cs typeface="+mn-lt"/>
            </a:endParaRPr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11475046-C5E6-6CDF-C969-4F7C162D74C9}"/>
              </a:ext>
            </a:extLst>
          </p:cNvPr>
          <p:cNvSpPr/>
          <p:nvPr/>
        </p:nvSpPr>
        <p:spPr bwMode="auto">
          <a:xfrm>
            <a:off x="9754747" y="4506679"/>
            <a:ext cx="1909862" cy="69249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087144">
              <a:spcAft>
                <a:spcPts val="600"/>
              </a:spcAft>
              <a:defRPr/>
            </a:pPr>
            <a:r>
              <a:rPr lang="en-US" sz="1600" dirty="0">
                <a:gradFill>
                  <a:gsLst>
                    <a:gs pos="0">
                      <a:srgbClr val="000000"/>
                    </a:gs>
                    <a:gs pos="100000">
                      <a:srgbClr val="00144A"/>
                    </a:gs>
                  </a:gsLst>
                  <a:lin ang="5400000" scaled="1"/>
                </a:gradFill>
                <a:latin typeface="72 Brand Medium" panose="020B0504030603020204" pitchFamily="34" charset="0"/>
                <a:ea typeface="+mn-lt"/>
                <a:cs typeface="+mn-lt"/>
              </a:rPr>
              <a:t>Fully integrated</a:t>
            </a:r>
          </a:p>
          <a:p>
            <a:pPr marL="0" marR="0" lvl="0" indent="0" algn="l" defTabSz="1087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72 Brand" panose="020B0504030603020204" pitchFamily="34" charset="0"/>
                <a:ea typeface="+mn-lt"/>
                <a:cs typeface="+mn-lt"/>
              </a:rPr>
              <a:t>with SAP Business Suite and third-party applications </a:t>
            </a:r>
          </a:p>
        </p:txBody>
      </p:sp>
      <p:grpSp>
        <p:nvGrpSpPr>
          <p:cNvPr id="1826" name="Group 1825">
            <a:extLst>
              <a:ext uri="{FF2B5EF4-FFF2-40B4-BE49-F238E27FC236}">
                <a16:creationId xmlns:a16="http://schemas.microsoft.com/office/drawing/2014/main" id="{AFA652A4-4F9A-399D-4B31-0B837B8E9C01}"/>
              </a:ext>
            </a:extLst>
          </p:cNvPr>
          <p:cNvGrpSpPr/>
          <p:nvPr/>
        </p:nvGrpSpPr>
        <p:grpSpPr>
          <a:xfrm>
            <a:off x="5876840" y="5396255"/>
            <a:ext cx="1437153" cy="328280"/>
            <a:chOff x="6541741" y="5481451"/>
            <a:chExt cx="1437527" cy="328365"/>
          </a:xfrm>
        </p:grpSpPr>
        <p:sp>
          <p:nvSpPr>
            <p:cNvPr id="23" name="Rectangle: Rounded Corners 29">
              <a:extLst>
                <a:ext uri="{FF2B5EF4-FFF2-40B4-BE49-F238E27FC236}">
                  <a16:creationId xmlns:a16="http://schemas.microsoft.com/office/drawing/2014/main" id="{6ED8F066-8B6A-4D81-B0BD-F98912404440}"/>
                </a:ext>
              </a:extLst>
            </p:cNvPr>
            <p:cNvSpPr/>
            <p:nvPr/>
          </p:nvSpPr>
          <p:spPr bwMode="auto">
            <a:xfrm>
              <a:off x="6541741" y="5481451"/>
              <a:ext cx="1437527" cy="328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BF8FF"/>
                </a:gs>
              </a:gsLst>
              <a:lin ang="2700000" scaled="1"/>
              <a:tileRect/>
            </a:gradFill>
            <a:ln w="12700">
              <a:noFill/>
              <a:headEnd type="none" w="med" len="med"/>
              <a:tailEnd type="none" w="med" len="med"/>
            </a:ln>
            <a:effectLst>
              <a:outerShdw blurRad="50800" dir="2700000" algn="t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5475" tIns="146076" rIns="182594" bIns="1460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0981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F2"/>
                  </a:solidFill>
                  <a:effectLst/>
                  <a:uLnTx/>
                  <a:uFillTx/>
                  <a:latin typeface="72 Brand Medium" panose="020B0604030603020204" pitchFamily="34" charset="0"/>
                  <a:ea typeface="+mn-ea"/>
                  <a:cs typeface="72" panose="020B0503030000000003" pitchFamily="34" charset="0"/>
                </a:rPr>
                <a:t>Business AI</a:t>
              </a: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07ACAB4D-060D-90C4-0E77-BD4CFD4DB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6664588" y="5585530"/>
              <a:ext cx="139971" cy="139971"/>
            </a:xfrm>
            <a:prstGeom prst="rect">
              <a:avLst/>
            </a:prstGeom>
          </p:spPr>
        </p:pic>
      </p:grpSp>
      <p:grpSp>
        <p:nvGrpSpPr>
          <p:cNvPr id="1827" name="Group 1826">
            <a:extLst>
              <a:ext uri="{FF2B5EF4-FFF2-40B4-BE49-F238E27FC236}">
                <a16:creationId xmlns:a16="http://schemas.microsoft.com/office/drawing/2014/main" id="{A352FBF4-3BC8-5578-CC31-443334D8882F}"/>
              </a:ext>
            </a:extLst>
          </p:cNvPr>
          <p:cNvGrpSpPr/>
          <p:nvPr/>
        </p:nvGrpSpPr>
        <p:grpSpPr>
          <a:xfrm>
            <a:off x="2464775" y="5387656"/>
            <a:ext cx="1437153" cy="328280"/>
            <a:chOff x="2038531" y="5481451"/>
            <a:chExt cx="1437527" cy="328365"/>
          </a:xfrm>
        </p:grpSpPr>
        <p:sp>
          <p:nvSpPr>
            <p:cNvPr id="26" name="Rectangle: Rounded Corners 29">
              <a:extLst>
                <a:ext uri="{FF2B5EF4-FFF2-40B4-BE49-F238E27FC236}">
                  <a16:creationId xmlns:a16="http://schemas.microsoft.com/office/drawing/2014/main" id="{E78AD6C1-136D-E92B-88A6-48BD4F2C0F28}"/>
                </a:ext>
              </a:extLst>
            </p:cNvPr>
            <p:cNvSpPr/>
            <p:nvPr/>
          </p:nvSpPr>
          <p:spPr bwMode="auto">
            <a:xfrm>
              <a:off x="2038531" y="5481451"/>
              <a:ext cx="1437527" cy="328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BF8FF"/>
                </a:gs>
              </a:gsLst>
              <a:lin ang="2700000" scaled="1"/>
              <a:tileRect/>
            </a:gradFill>
            <a:ln w="12700">
              <a:noFill/>
              <a:headEnd type="none" w="med" len="med"/>
              <a:tailEnd type="none" w="med" len="med"/>
            </a:ln>
            <a:effectLst>
              <a:outerShdw blurRad="50800" dir="2700000" algn="tl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5475" tIns="146076" rIns="182594" bIns="1460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0981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F2"/>
                  </a:solidFill>
                  <a:effectLst/>
                  <a:uLnTx/>
                  <a:uFillTx/>
                  <a:latin typeface="72 Brand Medium" panose="020B0604030603020204" pitchFamily="34" charset="0"/>
                  <a:ea typeface="+mn-ea"/>
                  <a:cs typeface="72" panose="020B0503030000000003" pitchFamily="34" charset="0"/>
                </a:rPr>
                <a:t>Apps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15BE4D4-3190-37A3-7560-A0648CD5C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373714" y="5548737"/>
              <a:ext cx="198553" cy="198552"/>
            </a:xfrm>
            <a:prstGeom prst="rect">
              <a:avLst/>
            </a:prstGeom>
          </p:spPr>
        </p:pic>
      </p:grpSp>
      <p:sp>
        <p:nvSpPr>
          <p:cNvPr id="24" name="Rectangle: Rounded Corners 29">
            <a:extLst>
              <a:ext uri="{FF2B5EF4-FFF2-40B4-BE49-F238E27FC236}">
                <a16:creationId xmlns:a16="http://schemas.microsoft.com/office/drawing/2014/main" id="{1E2DE90E-F4C9-225D-A5A9-58556AC1B0B4}"/>
              </a:ext>
            </a:extLst>
          </p:cNvPr>
          <p:cNvSpPr/>
          <p:nvPr/>
        </p:nvSpPr>
        <p:spPr bwMode="auto">
          <a:xfrm>
            <a:off x="4153105" y="5397535"/>
            <a:ext cx="1437153" cy="3282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BF8FF"/>
              </a:gs>
            </a:gsLst>
            <a:lin ang="2700000" scaled="1"/>
            <a:tileRect/>
          </a:gradFill>
          <a:ln w="12700">
            <a:noFill/>
            <a:headEnd type="none" w="med" len="med"/>
            <a:tailEnd type="none" w="med" len="med"/>
          </a:ln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5475" tIns="146076" rIns="182594" bIns="1460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098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F2"/>
                </a:solidFill>
                <a:effectLst/>
                <a:uLnTx/>
                <a:uFillTx/>
                <a:latin typeface="72 Brand Medium" panose="020B0604030603020204" pitchFamily="34" charset="0"/>
                <a:ea typeface="+mn-ea"/>
                <a:cs typeface="72" panose="020B0503030000000003" pitchFamily="34" charset="0"/>
              </a:rPr>
              <a:t>Data</a:t>
            </a:r>
          </a:p>
        </p:txBody>
      </p:sp>
      <p:sp>
        <p:nvSpPr>
          <p:cNvPr id="896" name="TextBox 895">
            <a:extLst>
              <a:ext uri="{FF2B5EF4-FFF2-40B4-BE49-F238E27FC236}">
                <a16:creationId xmlns:a16="http://schemas.microsoft.com/office/drawing/2014/main" id="{1CF0E74E-934A-C67B-33F4-D49284985C2D}"/>
              </a:ext>
            </a:extLst>
          </p:cNvPr>
          <p:cNvSpPr txBox="1"/>
          <p:nvPr/>
        </p:nvSpPr>
        <p:spPr>
          <a:xfrm>
            <a:off x="3825513" y="2376990"/>
            <a:ext cx="2658620" cy="4800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1073731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sz="2799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 Medium" panose="020B0504030603020204" pitchFamily="34" charset="0"/>
                <a:ea typeface="72 Brand" pitchFamily="34" charset="-128"/>
                <a:cs typeface="72 Brand" pitchFamily="34" charset="-128"/>
              </a:rPr>
              <a:t>SAP Build</a:t>
            </a:r>
          </a:p>
        </p:txBody>
      </p:sp>
      <p:sp>
        <p:nvSpPr>
          <p:cNvPr id="897" name="TextBox 896">
            <a:extLst>
              <a:ext uri="{FF2B5EF4-FFF2-40B4-BE49-F238E27FC236}">
                <a16:creationId xmlns:a16="http://schemas.microsoft.com/office/drawing/2014/main" id="{9128F148-8E04-B658-10C4-D2DFFB353D8E}"/>
              </a:ext>
            </a:extLst>
          </p:cNvPr>
          <p:cNvSpPr txBox="1"/>
          <p:nvPr/>
        </p:nvSpPr>
        <p:spPr>
          <a:xfrm>
            <a:off x="677045" y="3191553"/>
            <a:ext cx="1265417" cy="4430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073731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2700000" scaled="1"/>
                </a:gradFill>
                <a:effectLst/>
                <a:uLnTx/>
                <a:uFillTx/>
                <a:latin typeface="72 Brand Medium"/>
                <a:ea typeface="72 Brand" pitchFamily="34" charset="-128"/>
                <a:cs typeface="72 Brand" pitchFamily="34" charset="-128"/>
              </a:rPr>
              <a:t>Unified</a:t>
            </a:r>
            <a:br>
              <a:rPr kumimoji="0" lang="en-US" sz="16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2700000" scaled="1"/>
                </a:gradFill>
                <a:effectLst/>
                <a:uLnTx/>
                <a:uFillTx/>
                <a:latin typeface="72 Brand Medium"/>
                <a:ea typeface="72 Brand" pitchFamily="34" charset="-128"/>
                <a:cs typeface="72 Brand" pitchFamily="34" charset="-128"/>
              </a:rPr>
            </a:b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2700000" scaled="1"/>
                </a:gradFill>
                <a:effectLst/>
                <a:uLnTx/>
                <a:uFillTx/>
                <a:latin typeface="72 Brand Medium"/>
                <a:ea typeface="72 Brand" pitchFamily="34" charset="-128"/>
                <a:cs typeface="72 Brand" pitchFamily="34" charset="-128"/>
              </a:rPr>
              <a:t>solution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CACA7D-81C6-3ECD-F1FA-8422A09C69F4}"/>
              </a:ext>
            </a:extLst>
          </p:cNvPr>
          <p:cNvCxnSpPr>
            <a:cxnSpLocks/>
          </p:cNvCxnSpPr>
          <p:nvPr/>
        </p:nvCxnSpPr>
        <p:spPr>
          <a:xfrm>
            <a:off x="9748789" y="3248087"/>
            <a:ext cx="1683055" cy="0"/>
          </a:xfrm>
          <a:prstGeom prst="line">
            <a:avLst/>
          </a:prstGeom>
          <a:ln w="9525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0000">
                  <a:srgbClr val="0070F2"/>
                </a:gs>
                <a:gs pos="78000">
                  <a:srgbClr val="002A86"/>
                </a:gs>
                <a:gs pos="100000">
                  <a:schemeClr val="bg1"/>
                </a:gs>
              </a:gsLst>
              <a:lin ang="21594000" scaled="0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1C55DA-B6EA-29DB-B46B-25D3402D6527}"/>
              </a:ext>
            </a:extLst>
          </p:cNvPr>
          <p:cNvCxnSpPr>
            <a:cxnSpLocks/>
          </p:cNvCxnSpPr>
          <p:nvPr/>
        </p:nvCxnSpPr>
        <p:spPr>
          <a:xfrm>
            <a:off x="9731859" y="4261098"/>
            <a:ext cx="1683055" cy="0"/>
          </a:xfrm>
          <a:prstGeom prst="line">
            <a:avLst/>
          </a:prstGeom>
          <a:ln w="9525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0000">
                  <a:srgbClr val="0070F2"/>
                </a:gs>
                <a:gs pos="78000">
                  <a:srgbClr val="002A86"/>
                </a:gs>
                <a:gs pos="100000">
                  <a:schemeClr val="bg1"/>
                </a:gs>
              </a:gsLst>
              <a:lin ang="21594000" scaled="0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727E9C-38CA-4FC5-E8F2-A0A98242FF92}"/>
              </a:ext>
            </a:extLst>
          </p:cNvPr>
          <p:cNvGrpSpPr/>
          <p:nvPr/>
        </p:nvGrpSpPr>
        <p:grpSpPr>
          <a:xfrm rot="14522375">
            <a:off x="2049591" y="5486078"/>
            <a:ext cx="106471" cy="169337"/>
            <a:chOff x="1781040" y="3052066"/>
            <a:chExt cx="141719" cy="22539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BF20347-D75E-7A49-CC40-FE5E61EF08CF}"/>
                </a:ext>
              </a:extLst>
            </p:cNvPr>
            <p:cNvSpPr/>
            <p:nvPr/>
          </p:nvSpPr>
          <p:spPr bwMode="gray">
            <a:xfrm rot="18025869">
              <a:off x="1803309" y="3093562"/>
              <a:ext cx="160946" cy="7795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162381" tIns="129904" rIns="162381" bIns="129904" rtlCol="0" anchor="t"/>
            <a:lstStyle/>
            <a:p>
              <a:pPr marL="0" marR="0" lvl="0" indent="0" algn="l" defTabSz="90203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086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33" name="Rectangle 157">
              <a:extLst>
                <a:ext uri="{FF2B5EF4-FFF2-40B4-BE49-F238E27FC236}">
                  <a16:creationId xmlns:a16="http://schemas.microsoft.com/office/drawing/2014/main" id="{111CF61F-81F5-B311-0964-DBA2B0503F1A}"/>
                </a:ext>
              </a:extLst>
            </p:cNvPr>
            <p:cNvSpPr/>
            <p:nvPr/>
          </p:nvSpPr>
          <p:spPr bwMode="gray">
            <a:xfrm rot="15300000">
              <a:off x="1781040" y="3208041"/>
              <a:ext cx="69419" cy="69419"/>
            </a:xfrm>
            <a:custGeom>
              <a:avLst/>
              <a:gdLst>
                <a:gd name="connsiteX0" fmla="*/ 0 w 904351"/>
                <a:gd name="connsiteY0" fmla="*/ 0 h 904351"/>
                <a:gd name="connsiteX1" fmla="*/ 904351 w 904351"/>
                <a:gd name="connsiteY1" fmla="*/ 0 h 904351"/>
                <a:gd name="connsiteX2" fmla="*/ 904351 w 904351"/>
                <a:gd name="connsiteY2" fmla="*/ 904351 h 904351"/>
                <a:gd name="connsiteX3" fmla="*/ 0 w 904351"/>
                <a:gd name="connsiteY3" fmla="*/ 904351 h 904351"/>
                <a:gd name="connsiteX4" fmla="*/ 0 w 904351"/>
                <a:gd name="connsiteY4" fmla="*/ 0 h 904351"/>
                <a:gd name="connsiteX0" fmla="*/ 0 w 904351"/>
                <a:gd name="connsiteY0" fmla="*/ 0 h 904351"/>
                <a:gd name="connsiteX1" fmla="*/ 904351 w 904351"/>
                <a:gd name="connsiteY1" fmla="*/ 0 h 904351"/>
                <a:gd name="connsiteX2" fmla="*/ 904351 w 904351"/>
                <a:gd name="connsiteY2" fmla="*/ 904351 h 904351"/>
                <a:gd name="connsiteX3" fmla="*/ 0 w 904351"/>
                <a:gd name="connsiteY3" fmla="*/ 904351 h 904351"/>
                <a:gd name="connsiteX4" fmla="*/ 91440 w 904351"/>
                <a:gd name="connsiteY4" fmla="*/ 91440 h 904351"/>
                <a:gd name="connsiteX0" fmla="*/ 0 w 904351"/>
                <a:gd name="connsiteY0" fmla="*/ 0 h 904351"/>
                <a:gd name="connsiteX1" fmla="*/ 904351 w 904351"/>
                <a:gd name="connsiteY1" fmla="*/ 0 h 904351"/>
                <a:gd name="connsiteX2" fmla="*/ 904351 w 904351"/>
                <a:gd name="connsiteY2" fmla="*/ 904351 h 904351"/>
                <a:gd name="connsiteX3" fmla="*/ 0 w 904351"/>
                <a:gd name="connsiteY3" fmla="*/ 904351 h 904351"/>
                <a:gd name="connsiteX0" fmla="*/ 904351 w 904351"/>
                <a:gd name="connsiteY0" fmla="*/ 0 h 904351"/>
                <a:gd name="connsiteX1" fmla="*/ 904351 w 904351"/>
                <a:gd name="connsiteY1" fmla="*/ 904351 h 904351"/>
                <a:gd name="connsiteX2" fmla="*/ 0 w 904351"/>
                <a:gd name="connsiteY2" fmla="*/ 904351 h 90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04351" h="904351">
                  <a:moveTo>
                    <a:pt x="904351" y="0"/>
                  </a:moveTo>
                  <a:lnTo>
                    <a:pt x="904351" y="904351"/>
                  </a:lnTo>
                  <a:lnTo>
                    <a:pt x="0" y="904351"/>
                  </a:lnTo>
                </a:path>
              </a:pathLst>
            </a:custGeom>
            <a:noFill/>
            <a:ln w="11430" cap="rnd" algn="ctr">
              <a:gradFill>
                <a:gsLst>
                  <a:gs pos="0">
                    <a:srgbClr val="89D1FF"/>
                  </a:gs>
                  <a:gs pos="100000">
                    <a:srgbClr val="1B90FF"/>
                  </a:gs>
                </a:gsLst>
                <a:lin ang="5400000" scaled="1"/>
              </a:gradFill>
              <a:round/>
              <a:headEnd/>
              <a:tailEnd/>
            </a:ln>
          </p:spPr>
          <p:txBody>
            <a:bodyPr lIns="162381" tIns="129904" rIns="162381" bIns="129904" rtlCol="0" anchor="t"/>
            <a:lstStyle/>
            <a:p>
              <a:pPr marL="0" marR="0" lvl="0" indent="0" algn="l" defTabSz="90203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086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D6AD94F6-FBCE-AE09-243D-606456788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503238"/>
            <a:ext cx="11187112" cy="677108"/>
          </a:xfrm>
        </p:spPr>
        <p:txBody>
          <a:bodyPr/>
          <a:lstStyle/>
          <a:p>
            <a:r>
              <a:rPr lang="en-GB" dirty="0"/>
              <a:t>SAP Build helps you deliver results 3x faster.</a:t>
            </a:r>
            <a:br>
              <a:rPr lang="en-GB" dirty="0"/>
            </a:br>
            <a:r>
              <a:rPr lang="en-US" sz="2000" dirty="0">
                <a:latin typeface="72 Brand" panose="020B0504030603020204" pitchFamily="34" charset="0"/>
              </a:rPr>
              <a:t>Build where your business lives, in the context of your applications, data, and AI.</a:t>
            </a:r>
            <a:endParaRPr lang="de-DE" dirty="0">
              <a:latin typeface="72 Brand" panose="020B0504030603020204" pitchFamily="34" charset="0"/>
            </a:endParaRPr>
          </a:p>
        </p:txBody>
      </p:sp>
      <p:pic>
        <p:nvPicPr>
          <p:cNvPr id="5" name="Picture 27">
            <a:extLst>
              <a:ext uri="{FF2B5EF4-FFF2-40B4-BE49-F238E27FC236}">
                <a16:creationId xmlns:a16="http://schemas.microsoft.com/office/drawing/2014/main" id="{78EAE971-5BF4-8AC0-B391-8B53A98FB8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490440" y="5454925"/>
            <a:ext cx="198501" cy="198501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E47430BD-D4C1-E5C3-25A6-F427510D565E}"/>
              </a:ext>
            </a:extLst>
          </p:cNvPr>
          <p:cNvSpPr/>
          <p:nvPr/>
        </p:nvSpPr>
        <p:spPr bwMode="gray">
          <a:xfrm>
            <a:off x="2533796" y="3111330"/>
            <a:ext cx="935340" cy="430775"/>
          </a:xfrm>
          <a:prstGeom prst="rect">
            <a:avLst/>
          </a:prstGeom>
          <a:noFill/>
          <a:ln w="28575" algn="ctr">
            <a:solidFill>
              <a:srgbClr val="FF8AF0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3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6AFC9-F4CA-3284-F5EF-CC1495DB1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6E6C69-0E09-40FA-CA0F-5E9D1EFAEE78}"/>
              </a:ext>
            </a:extLst>
          </p:cNvPr>
          <p:cNvSpPr/>
          <p:nvPr/>
        </p:nvSpPr>
        <p:spPr bwMode="gray">
          <a:xfrm>
            <a:off x="206734" y="4428878"/>
            <a:ext cx="11513489" cy="49911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FF8AF0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DE" sz="1800" kern="0">
              <a:latin typeface="+mj-lt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821B11-E960-DBD5-209A-1A4165CE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SAPUI5 is SAP’s standard UI framework of choice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0A655-CD87-15DF-4CEC-DD2162111967}"/>
              </a:ext>
            </a:extLst>
          </p:cNvPr>
          <p:cNvSpPr txBox="1"/>
          <p:nvPr/>
        </p:nvSpPr>
        <p:spPr>
          <a:xfrm>
            <a:off x="503237" y="2278121"/>
            <a:ext cx="28800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kern="0" dirty="0">
                <a:solidFill>
                  <a:srgbClr val="002A86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Consistent UX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7B8C6-03DF-315D-3797-D0B9808833C6}"/>
              </a:ext>
            </a:extLst>
          </p:cNvPr>
          <p:cNvSpPr txBox="1"/>
          <p:nvPr/>
        </p:nvSpPr>
        <p:spPr>
          <a:xfrm>
            <a:off x="503236" y="2836059"/>
            <a:ext cx="28800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dirty="0">
                <a:latin typeface="72 Brand" panose="020B0504030603020204" pitchFamily="34" charset="0"/>
              </a:rPr>
              <a:t>SAPUI5 enables the SAP Fiori design evolution across SAP solutions (and beyond).</a:t>
            </a:r>
            <a:endParaRPr lang="en-US" sz="16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68FAF9-A69B-1E08-2F0F-6F57FB35357E}"/>
              </a:ext>
            </a:extLst>
          </p:cNvPr>
          <p:cNvSpPr txBox="1"/>
          <p:nvPr/>
        </p:nvSpPr>
        <p:spPr>
          <a:xfrm>
            <a:off x="503237" y="4498052"/>
            <a:ext cx="193161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kern="0" dirty="0">
                <a:solidFill>
                  <a:srgbClr val="002A86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Flexible tools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939E8B-BB96-5CEB-F947-DD2801470E61}"/>
              </a:ext>
            </a:extLst>
          </p:cNvPr>
          <p:cNvSpPr txBox="1"/>
          <p:nvPr/>
        </p:nvSpPr>
        <p:spPr>
          <a:xfrm>
            <a:off x="503237" y="5055990"/>
            <a:ext cx="2880000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dirty="0">
                <a:latin typeface="72 Brand" panose="020B0504030603020204" pitchFamily="34" charset="0"/>
              </a:rPr>
              <a:t>for any developer: SAPUI5 comes with tools to efficiently build, test, and deploy apps, including SAP Build Code.</a:t>
            </a:r>
            <a:endParaRPr lang="en-US" sz="16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00FEC1-1F05-BF21-EEA6-EC644BC809B5}"/>
              </a:ext>
            </a:extLst>
          </p:cNvPr>
          <p:cNvSpPr txBox="1"/>
          <p:nvPr/>
        </p:nvSpPr>
        <p:spPr>
          <a:xfrm>
            <a:off x="4312973" y="2278121"/>
            <a:ext cx="201176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kern="0" dirty="0">
                <a:solidFill>
                  <a:srgbClr val="0070F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Use anywhere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E54AC5-2CD1-D519-870E-831698E170A3}"/>
              </a:ext>
            </a:extLst>
          </p:cNvPr>
          <p:cNvSpPr txBox="1"/>
          <p:nvPr/>
        </p:nvSpPr>
        <p:spPr>
          <a:xfrm>
            <a:off x="4312971" y="2836059"/>
            <a:ext cx="303517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dirty="0">
                <a:latin typeface="72 Brand" panose="020B0504030603020204" pitchFamily="34" charset="0"/>
              </a:rPr>
              <a:t>SAPUI5 allows single, responsive app implementations for all browsers, platforms, and devices.</a:t>
            </a:r>
            <a:endParaRPr lang="en-US" sz="16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21EFD7-343E-040D-2B0B-FDA40D3700DC}"/>
              </a:ext>
            </a:extLst>
          </p:cNvPr>
          <p:cNvSpPr txBox="1"/>
          <p:nvPr/>
        </p:nvSpPr>
        <p:spPr>
          <a:xfrm>
            <a:off x="4312973" y="4498052"/>
            <a:ext cx="173284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kern="0" dirty="0">
                <a:solidFill>
                  <a:srgbClr val="0070F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Innovations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27E2CA-3289-9C8C-242F-C4410920D24F}"/>
              </a:ext>
            </a:extLst>
          </p:cNvPr>
          <p:cNvSpPr txBox="1"/>
          <p:nvPr/>
        </p:nvSpPr>
        <p:spPr>
          <a:xfrm>
            <a:off x="4312972" y="5055990"/>
            <a:ext cx="3035177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dirty="0">
                <a:latin typeface="72 Brand" panose="020B0504030603020204" pitchFamily="34" charset="0"/>
              </a:rPr>
              <a:t>SAPUI5 brings a clear separation of apps and framework to centrally innovate while staying upgrade-compatible. </a:t>
            </a:r>
            <a:endParaRPr lang="en-US" sz="16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B2F42B-A4A7-9334-A8B4-710374736016}"/>
              </a:ext>
            </a:extLst>
          </p:cNvPr>
          <p:cNvSpPr txBox="1"/>
          <p:nvPr/>
        </p:nvSpPr>
        <p:spPr>
          <a:xfrm>
            <a:off x="8122708" y="2278121"/>
            <a:ext cx="365455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kern="0" dirty="0">
                <a:solidFill>
                  <a:srgbClr val="89D1FF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Enterprise UI elements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083FDE-F39C-281B-AAC0-B67BDC0D19B8}"/>
              </a:ext>
            </a:extLst>
          </p:cNvPr>
          <p:cNvSpPr txBox="1"/>
          <p:nvPr/>
        </p:nvSpPr>
        <p:spPr>
          <a:xfrm>
            <a:off x="8122708" y="2836059"/>
            <a:ext cx="2880000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dirty="0">
                <a:latin typeface="72 Brand" panose="020B0504030603020204" pitchFamily="34" charset="0"/>
              </a:rPr>
              <a:t>and UI integration cards are available to build professional UIs, SAP Web Components to cover all Web technology stacks.</a:t>
            </a:r>
            <a:endParaRPr lang="en-US" sz="16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10E79B-664C-DEEC-5C7E-71F5A3B10AA0}"/>
              </a:ext>
            </a:extLst>
          </p:cNvPr>
          <p:cNvSpPr txBox="1"/>
          <p:nvPr/>
        </p:nvSpPr>
        <p:spPr>
          <a:xfrm>
            <a:off x="8122710" y="4498052"/>
            <a:ext cx="31850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kern="0" dirty="0">
                <a:solidFill>
                  <a:srgbClr val="89D1FF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Powerful extensibility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40190B-7C9E-E2D1-41D2-44004FB1298C}"/>
              </a:ext>
            </a:extLst>
          </p:cNvPr>
          <p:cNvSpPr txBox="1"/>
          <p:nvPr/>
        </p:nvSpPr>
        <p:spPr>
          <a:xfrm>
            <a:off x="8122709" y="5055990"/>
            <a:ext cx="318506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dirty="0">
                <a:latin typeface="72 Brand" panose="020B0504030603020204" pitchFamily="34" charset="0"/>
              </a:rPr>
              <a:t>Customers and partners can adapt SAP standard apps and customize UIs with or without coding.</a:t>
            </a:r>
            <a:endParaRPr lang="en-US" sz="16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367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287BC5-7626-3A5C-723A-2D71BFDC3E36}"/>
              </a:ext>
            </a:extLst>
          </p:cNvPr>
          <p:cNvSpPr/>
          <p:nvPr/>
        </p:nvSpPr>
        <p:spPr bwMode="gray">
          <a:xfrm>
            <a:off x="784025" y="1349406"/>
            <a:ext cx="2816334" cy="55041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25400" algn="ctr">
            <a:solidFill>
              <a:srgbClr val="000000">
                <a:alpha val="0"/>
              </a:srgbClr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Business requirement for a user interface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7271382-97D5-DCCA-4A6E-93A942C09533}"/>
              </a:ext>
            </a:extLst>
          </p:cNvPr>
          <p:cNvSpPr/>
          <p:nvPr/>
        </p:nvSpPr>
        <p:spPr bwMode="gray">
          <a:xfrm>
            <a:off x="784025" y="2305235"/>
            <a:ext cx="1136342" cy="55041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25400" algn="ctr">
            <a:solidFill>
              <a:srgbClr val="000000">
                <a:alpha val="0"/>
              </a:srgbClr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000" kern="0" dirty="0">
                <a:latin typeface="+mn-lt"/>
                <a:ea typeface="Arial Unicode MS" pitchFamily="34" charset="-128"/>
                <a:cs typeface="Arial Unicode MS" pitchFamily="34" charset="-128"/>
              </a:rPr>
              <a:t>Is a standard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 </a:t>
            </a:r>
            <a:br>
              <a:rPr kumimoji="0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</a:b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SAP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Fior</a:t>
            </a:r>
            <a:r>
              <a:rPr lang="en-US" sz="1000" kern="0" dirty="0">
                <a:latin typeface="+mn-lt"/>
                <a:ea typeface="Arial Unicode MS" pitchFamily="34" charset="-128"/>
                <a:cs typeface="Arial Unicode MS" pitchFamily="34" charset="-128"/>
              </a:rPr>
              <a:t>i a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pp available?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37A57A-81D2-7BBE-CFEB-918E4815CB56}"/>
              </a:ext>
            </a:extLst>
          </p:cNvPr>
          <p:cNvSpPr/>
          <p:nvPr/>
        </p:nvSpPr>
        <p:spPr bwMode="gray">
          <a:xfrm>
            <a:off x="784025" y="3261064"/>
            <a:ext cx="1136342" cy="55041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25400" algn="ctr">
            <a:solidFill>
              <a:srgbClr val="000000">
                <a:alpha val="0"/>
              </a:srgbClr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Does the app UI need changes?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754E4F-91B1-332F-1C65-F0E750ED5603}"/>
              </a:ext>
            </a:extLst>
          </p:cNvPr>
          <p:cNvSpPr/>
          <p:nvPr/>
        </p:nvSpPr>
        <p:spPr bwMode="gray">
          <a:xfrm>
            <a:off x="784025" y="4854028"/>
            <a:ext cx="1137600" cy="1457585"/>
          </a:xfrm>
          <a:prstGeom prst="roundRect">
            <a:avLst/>
          </a:prstGeom>
          <a:solidFill>
            <a:schemeClr val="bg2"/>
          </a:solidFill>
          <a:ln w="28575" algn="ctr">
            <a:solidFill>
              <a:srgbClr val="000000">
                <a:alpha val="0"/>
              </a:srgbClr>
            </a:solidFill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2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SAP standard SAP Fiori</a:t>
            </a:r>
            <a:r>
              <a:rPr lang="en-US" sz="1100" kern="0" dirty="0">
                <a:latin typeface="+mn-lt"/>
                <a:ea typeface="Arial Unicode MS" pitchFamily="34" charset="-128"/>
                <a:cs typeface="Arial Unicode MS" pitchFamily="34" charset="-128"/>
              </a:rPr>
              <a:t> app</a:t>
            </a:r>
            <a:br>
              <a:rPr lang="en-US" sz="1100" kern="0" dirty="0">
                <a:latin typeface="+mn-lt"/>
                <a:ea typeface="Arial Unicode MS" pitchFamily="34" charset="-128"/>
                <a:cs typeface="Arial Unicode MS" pitchFamily="34" charset="-128"/>
              </a:rPr>
            </a:br>
            <a:br>
              <a:rPr lang="en-US" sz="1100" kern="0" dirty="0">
                <a:latin typeface="+mn-lt"/>
                <a:ea typeface="Arial Unicode MS" pitchFamily="34" charset="-128"/>
                <a:cs typeface="Arial Unicode MS" pitchFamily="34" charset="-128"/>
              </a:rPr>
            </a:br>
            <a:r>
              <a:rPr lang="en-US" sz="800" kern="0" dirty="0">
                <a:latin typeface="+mn-lt"/>
                <a:ea typeface="Arial Unicode MS" pitchFamily="34" charset="-128"/>
                <a:cs typeface="Arial Unicode MS" pitchFamily="34" charset="-128"/>
              </a:rPr>
              <a:t>(SAPUI5)</a:t>
            </a:r>
            <a:endParaRPr kumimoji="0" lang="en-US" sz="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50B0C19-608F-18B3-D1F0-78729BABA955}"/>
              </a:ext>
            </a:extLst>
          </p:cNvPr>
          <p:cNvSpPr/>
          <p:nvPr/>
        </p:nvSpPr>
        <p:spPr bwMode="gray">
          <a:xfrm>
            <a:off x="5425252" y="2305234"/>
            <a:ext cx="1136342" cy="55041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algn="ctr">
            <a:solidFill>
              <a:srgbClr val="000000">
                <a:alpha val="0"/>
              </a:srgbClr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Is a classic transaction available?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47D389-3635-72C3-25EC-3FD819539441}"/>
              </a:ext>
            </a:extLst>
          </p:cNvPr>
          <p:cNvSpPr/>
          <p:nvPr/>
        </p:nvSpPr>
        <p:spPr bwMode="gray">
          <a:xfrm>
            <a:off x="8729861" y="2300069"/>
            <a:ext cx="1136342" cy="550415"/>
          </a:xfrm>
          <a:prstGeom prst="roundRect">
            <a:avLst/>
          </a:prstGeom>
          <a:solidFill>
            <a:srgbClr val="89D1FF"/>
          </a:solidFill>
          <a:ln w="25400" algn="ctr">
            <a:solidFill>
              <a:srgbClr val="000000">
                <a:alpha val="0"/>
              </a:srgbClr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000" kern="0" dirty="0">
                <a:latin typeface="+mn-lt"/>
                <a:ea typeface="Arial Unicode MS" pitchFamily="34" charset="-128"/>
                <a:cs typeface="Arial Unicode MS" pitchFamily="34" charset="-128"/>
              </a:rPr>
              <a:t>Tight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 </a:t>
            </a:r>
            <a:br>
              <a:rPr kumimoji="0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</a:b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SAP S/4HANA integration?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3920B1-471F-47BE-CC2C-A2D50EA2E169}"/>
              </a:ext>
            </a:extLst>
          </p:cNvPr>
          <p:cNvSpPr/>
          <p:nvPr/>
        </p:nvSpPr>
        <p:spPr bwMode="gray">
          <a:xfrm>
            <a:off x="5425252" y="3261064"/>
            <a:ext cx="1136342" cy="55041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algn="ctr">
            <a:solidFill>
              <a:srgbClr val="000000">
                <a:alpha val="0"/>
              </a:srgbClr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Does the app UI need changes?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9428AF-1DA9-BEA4-FBC6-A689392387C7}"/>
              </a:ext>
            </a:extLst>
          </p:cNvPr>
          <p:cNvSpPr/>
          <p:nvPr/>
        </p:nvSpPr>
        <p:spPr bwMode="gray">
          <a:xfrm>
            <a:off x="2109757" y="3935769"/>
            <a:ext cx="1136342" cy="55041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25400" algn="ctr">
            <a:solidFill>
              <a:srgbClr val="000000">
                <a:alpha val="0"/>
              </a:srgbClr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Is key-user adaptation sufficient?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37D542A-18D6-1472-1AA3-B477F9ADB641}"/>
              </a:ext>
            </a:extLst>
          </p:cNvPr>
          <p:cNvSpPr/>
          <p:nvPr/>
        </p:nvSpPr>
        <p:spPr bwMode="gray">
          <a:xfrm>
            <a:off x="2109757" y="4859052"/>
            <a:ext cx="1136342" cy="1457585"/>
          </a:xfrm>
          <a:prstGeom prst="roundRect">
            <a:avLst/>
          </a:prstGeom>
          <a:solidFill>
            <a:schemeClr val="tx2"/>
          </a:solidFill>
          <a:ln w="28575" algn="ctr">
            <a:solidFill>
              <a:srgbClr val="000000">
                <a:alpha val="0"/>
              </a:srgbClr>
            </a:solidFill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Key user adaptation</a:t>
            </a:r>
            <a:br>
              <a: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</a:br>
            <a:b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</a:br>
            <a:r>
              <a:rPr lang="en-US" sz="800" kern="0" dirty="0">
                <a:solidFill>
                  <a:schemeClr val="bg1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SAPUI5 flexibility)</a:t>
            </a:r>
            <a:endParaRPr kumimoji="0" lang="en-US" sz="10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88B0AC-716A-8247-651B-7F62F03AC662}"/>
              </a:ext>
            </a:extLst>
          </p:cNvPr>
          <p:cNvSpPr/>
          <p:nvPr/>
        </p:nvSpPr>
        <p:spPr bwMode="gray">
          <a:xfrm>
            <a:off x="3435489" y="4859052"/>
            <a:ext cx="1136342" cy="1457585"/>
          </a:xfrm>
          <a:prstGeom prst="roundRect">
            <a:avLst/>
          </a:prstGeom>
          <a:solidFill>
            <a:srgbClr val="0070F2"/>
          </a:solidFill>
          <a:ln w="28575" algn="ctr">
            <a:solidFill>
              <a:srgbClr val="000000">
                <a:alpha val="0"/>
              </a:srgbClr>
            </a:solidFill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Developer adaptation</a:t>
            </a:r>
            <a:br>
              <a: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</a:br>
            <a:br>
              <a:rPr kumimoji="0" lang="en-US" sz="10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</a:br>
            <a:r>
              <a:rPr kumimoji="0" lang="en-US" sz="10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SAPUI5 flexibility</a:t>
            </a: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)</a:t>
            </a:r>
            <a:endParaRPr kumimoji="0" lang="en-US" sz="10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3EB541-9B6C-C909-D38D-774C3A8B73BB}"/>
              </a:ext>
            </a:extLst>
          </p:cNvPr>
          <p:cNvSpPr/>
          <p:nvPr/>
        </p:nvSpPr>
        <p:spPr bwMode="gray">
          <a:xfrm>
            <a:off x="5425252" y="4859051"/>
            <a:ext cx="1137600" cy="1457585"/>
          </a:xfrm>
          <a:prstGeom prst="roundRect">
            <a:avLst/>
          </a:prstGeom>
          <a:solidFill>
            <a:schemeClr val="bg2"/>
          </a:solidFill>
          <a:ln w="28575" algn="ctr">
            <a:solidFill>
              <a:srgbClr val="000000">
                <a:alpha val="0"/>
              </a:srgbClr>
            </a:solidFill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lvl="0"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1200" kern="0" dirty="0">
                <a:latin typeface="+mn-lt"/>
                <a:ea typeface="Arial Unicode MS" pitchFamily="34" charset="-128"/>
                <a:cs typeface="Arial Unicode MS" pitchFamily="34" charset="-128"/>
              </a:rPr>
              <a:t>SAP standard classic app</a:t>
            </a:r>
            <a:br>
              <a:rPr lang="en-US" sz="1200" kern="0" dirty="0">
                <a:latin typeface="+mn-lt"/>
                <a:ea typeface="Arial Unicode MS" pitchFamily="34" charset="-128"/>
                <a:cs typeface="Arial Unicode MS" pitchFamily="34" charset="-128"/>
              </a:rPr>
            </a:br>
            <a:br>
              <a:rPr lang="en-US" sz="800" kern="0" dirty="0">
                <a:latin typeface="+mn-lt"/>
                <a:ea typeface="Arial Unicode MS" pitchFamily="34" charset="-128"/>
                <a:cs typeface="Arial Unicode MS" pitchFamily="34" charset="-128"/>
              </a:rPr>
            </a:br>
            <a:r>
              <a:rPr lang="en-US" sz="800" kern="0" dirty="0">
                <a:latin typeface="+mn-lt"/>
                <a:ea typeface="Arial Unicode MS" pitchFamily="34" charset="-128"/>
                <a:cs typeface="Arial Unicode MS" pitchFamily="34" charset="-128"/>
              </a:rPr>
              <a:t>(SAPGUI for HTML)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51A51BC-2F67-A35B-BB79-7D10B058120F}"/>
              </a:ext>
            </a:extLst>
          </p:cNvPr>
          <p:cNvSpPr/>
          <p:nvPr/>
        </p:nvSpPr>
        <p:spPr bwMode="gray">
          <a:xfrm>
            <a:off x="6750984" y="4859050"/>
            <a:ext cx="1136342" cy="1457585"/>
          </a:xfrm>
          <a:prstGeom prst="roundRect">
            <a:avLst/>
          </a:prstGeom>
          <a:solidFill>
            <a:srgbClr val="1B90FF"/>
          </a:solidFill>
          <a:ln w="28575" algn="ctr">
            <a:solidFill>
              <a:srgbClr val="000000">
                <a:alpha val="0"/>
              </a:srgbClr>
            </a:solidFill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lvl="0"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1200" kern="0" dirty="0">
                <a:solidFill>
                  <a:srgbClr val="FFFFFF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UI adaptation</a:t>
            </a:r>
            <a:br>
              <a:rPr lang="en-US" sz="1200" kern="0" dirty="0">
                <a:solidFill>
                  <a:srgbClr val="FFFFFF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</a:br>
            <a:br>
              <a:rPr lang="en-US" sz="1200" kern="0" dirty="0">
                <a:solidFill>
                  <a:srgbClr val="FFFFFF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</a:br>
            <a:r>
              <a:rPr lang="en-US" sz="800" kern="0" dirty="0">
                <a:solidFill>
                  <a:srgbClr val="FFFFFF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(SAP Screen Personas)</a:t>
            </a:r>
            <a:endParaRPr lang="en-US" sz="1000" kern="0" dirty="0">
              <a:solidFill>
                <a:srgbClr val="FFFFFF"/>
              </a:solidFill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9BA657B-5136-159E-CB31-02E1185C0EB8}"/>
              </a:ext>
            </a:extLst>
          </p:cNvPr>
          <p:cNvSpPr/>
          <p:nvPr/>
        </p:nvSpPr>
        <p:spPr bwMode="gray">
          <a:xfrm>
            <a:off x="10309509" y="2300068"/>
            <a:ext cx="1136342" cy="550415"/>
          </a:xfrm>
          <a:prstGeom prst="roundRect">
            <a:avLst/>
          </a:prstGeom>
          <a:solidFill>
            <a:srgbClr val="89D1FF"/>
          </a:solidFill>
          <a:ln w="25400" algn="ctr">
            <a:solidFill>
              <a:srgbClr val="000000">
                <a:alpha val="0"/>
              </a:srgbClr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Need SAP BTP benefits?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DCF68C-834F-E585-449E-930F9D71AEE2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352196" y="1899821"/>
            <a:ext cx="0" cy="40541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569AC1-0853-BE1F-4E3D-AB81F05A2ABA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352196" y="2855650"/>
            <a:ext cx="0" cy="40541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325E86E-CEA9-B9E7-B530-3F734073BC8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352196" y="3811479"/>
            <a:ext cx="629" cy="104254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73947DC-5C1F-3170-E34A-3F0F71C28355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>
            <a:off x="1920367" y="3536272"/>
            <a:ext cx="757561" cy="399497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6249174-A042-13E6-0379-72F113358C27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2677928" y="4486184"/>
            <a:ext cx="0" cy="37286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B43A92F-40AA-52B5-E6BE-BC69DD52A7DC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1920367" y="2580442"/>
            <a:ext cx="350488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21704BC-E4C7-9BEB-5AA5-556152707F2F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5993423" y="2855649"/>
            <a:ext cx="0" cy="40541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F5E7697-F3AB-AF1C-68C2-41C31814F7C5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>
            <a:off x="5993423" y="3811479"/>
            <a:ext cx="629" cy="104757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1614C4D-0E44-302F-3A90-E793B0610FD9}"/>
              </a:ext>
            </a:extLst>
          </p:cNvPr>
          <p:cNvCxnSpPr>
            <a:cxnSpLocks/>
            <a:stCxn id="12" idx="3"/>
            <a:endCxn id="14" idx="0"/>
          </p:cNvCxnSpPr>
          <p:nvPr/>
        </p:nvCxnSpPr>
        <p:spPr>
          <a:xfrm>
            <a:off x="3246099" y="4210977"/>
            <a:ext cx="757561" cy="648075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FA215476-DBC0-562E-199A-FCF94FE752DC}"/>
              </a:ext>
            </a:extLst>
          </p:cNvPr>
          <p:cNvCxnSpPr>
            <a:cxnSpLocks/>
            <a:stCxn id="11" idx="3"/>
            <a:endCxn id="16" idx="0"/>
          </p:cNvCxnSpPr>
          <p:nvPr/>
        </p:nvCxnSpPr>
        <p:spPr>
          <a:xfrm>
            <a:off x="6561594" y="3536272"/>
            <a:ext cx="757561" cy="1322778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9F4A2A4-BC86-8F51-6F3A-B9B639262C06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6561594" y="2575277"/>
            <a:ext cx="2168267" cy="51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F351161-87C4-09B4-3420-727228FF564A}"/>
              </a:ext>
            </a:extLst>
          </p:cNvPr>
          <p:cNvCxnSpPr>
            <a:cxnSpLocks/>
            <a:stCxn id="19" idx="2"/>
            <a:endCxn id="29" idx="0"/>
          </p:cNvCxnSpPr>
          <p:nvPr/>
        </p:nvCxnSpPr>
        <p:spPr>
          <a:xfrm flipH="1">
            <a:off x="10871809" y="2850483"/>
            <a:ext cx="5871" cy="20085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AF4A7EC-8364-62FD-D300-EF70A1678ACC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298032" y="2850484"/>
            <a:ext cx="0" cy="200856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0C106D2-8F4A-1453-BA20-E0D64943073C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9866203" y="2575276"/>
            <a:ext cx="443306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C5A867D-13AB-ED78-D33A-816766079946}"/>
              </a:ext>
            </a:extLst>
          </p:cNvPr>
          <p:cNvSpPr txBox="1"/>
          <p:nvPr/>
        </p:nvSpPr>
        <p:spPr>
          <a:xfrm>
            <a:off x="1459935" y="2904468"/>
            <a:ext cx="35269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000" b="1" kern="0" dirty="0">
                <a:solidFill>
                  <a:schemeClr val="accent3">
                    <a:lumMod val="75000"/>
                  </a:schemeClr>
                </a:solidFill>
                <a:latin typeface="+mn-lt"/>
                <a:ea typeface="Arial Unicode MS" pitchFamily="34" charset="-128"/>
                <a:cs typeface="Arial Unicode MS" pitchFamily="34" charset="-128"/>
                <a:sym typeface="Wingdings" panose="05000000000000000000" pitchFamily="2" charset="2"/>
              </a:rPr>
              <a:t></a:t>
            </a:r>
            <a:endParaRPr lang="en-US" sz="2000" b="1" kern="0" dirty="0">
              <a:solidFill>
                <a:schemeClr val="accent3">
                  <a:lumMod val="75000"/>
                </a:schemeClr>
              </a:solidFill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1AC5818-D83D-E06E-A7BA-23F89DF238DE}"/>
              </a:ext>
            </a:extLst>
          </p:cNvPr>
          <p:cNvSpPr txBox="1"/>
          <p:nvPr/>
        </p:nvSpPr>
        <p:spPr>
          <a:xfrm>
            <a:off x="2015062" y="3203493"/>
            <a:ext cx="352693" cy="307777"/>
          </a:xfrm>
          <a:prstGeom prst="rect">
            <a:avLst/>
          </a:prstGeom>
          <a:ln w="12700">
            <a:noFill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000" b="1" kern="0" dirty="0">
                <a:solidFill>
                  <a:schemeClr val="accent3">
                    <a:lumMod val="75000"/>
                  </a:schemeClr>
                </a:solidFill>
                <a:latin typeface="+mn-lt"/>
                <a:ea typeface="Arial Unicode MS" pitchFamily="34" charset="-128"/>
                <a:cs typeface="Arial Unicode MS" pitchFamily="34" charset="-128"/>
                <a:sym typeface="Wingdings" panose="05000000000000000000" pitchFamily="2" charset="2"/>
              </a:rPr>
              <a:t></a:t>
            </a:r>
            <a:endParaRPr lang="en-US" sz="2000" b="1" kern="0" dirty="0">
              <a:solidFill>
                <a:schemeClr val="accent3">
                  <a:lumMod val="75000"/>
                </a:schemeClr>
              </a:solidFill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E45A1A-B7EC-F286-26BD-6EECA2064063}"/>
              </a:ext>
            </a:extLst>
          </p:cNvPr>
          <p:cNvSpPr txBox="1"/>
          <p:nvPr/>
        </p:nvSpPr>
        <p:spPr>
          <a:xfrm>
            <a:off x="2779586" y="4518730"/>
            <a:ext cx="35269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000" b="1" kern="0" dirty="0">
                <a:solidFill>
                  <a:schemeClr val="accent3">
                    <a:lumMod val="75000"/>
                  </a:schemeClr>
                </a:solidFill>
                <a:latin typeface="+mn-lt"/>
                <a:ea typeface="Arial Unicode MS" pitchFamily="34" charset="-128"/>
                <a:cs typeface="Arial Unicode MS" pitchFamily="34" charset="-128"/>
                <a:sym typeface="Wingdings" panose="05000000000000000000" pitchFamily="2" charset="2"/>
              </a:rPr>
              <a:t></a:t>
            </a:r>
            <a:endParaRPr lang="en-US" sz="2000" b="1" kern="0" dirty="0">
              <a:solidFill>
                <a:schemeClr val="accent3">
                  <a:lumMod val="75000"/>
                </a:schemeClr>
              </a:solidFill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646848D-5F2C-35A7-A689-FEFB28D4DE04}"/>
              </a:ext>
            </a:extLst>
          </p:cNvPr>
          <p:cNvSpPr txBox="1"/>
          <p:nvPr/>
        </p:nvSpPr>
        <p:spPr>
          <a:xfrm>
            <a:off x="6095080" y="2904468"/>
            <a:ext cx="35269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000" b="1" kern="0" dirty="0">
                <a:solidFill>
                  <a:schemeClr val="accent3">
                    <a:lumMod val="75000"/>
                  </a:schemeClr>
                </a:solidFill>
                <a:latin typeface="+mn-lt"/>
                <a:ea typeface="Arial Unicode MS" pitchFamily="34" charset="-128"/>
                <a:cs typeface="Arial Unicode MS" pitchFamily="34" charset="-128"/>
                <a:sym typeface="Wingdings" panose="05000000000000000000" pitchFamily="2" charset="2"/>
              </a:rPr>
              <a:t></a:t>
            </a:r>
            <a:endParaRPr lang="en-US" sz="2000" b="1" kern="0" dirty="0">
              <a:solidFill>
                <a:schemeClr val="accent3">
                  <a:lumMod val="75000"/>
                </a:schemeClr>
              </a:solidFill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045C6E8-1295-6D66-9CD1-BC5857CB8E9D}"/>
              </a:ext>
            </a:extLst>
          </p:cNvPr>
          <p:cNvSpPr txBox="1"/>
          <p:nvPr/>
        </p:nvSpPr>
        <p:spPr>
          <a:xfrm>
            <a:off x="6644467" y="3187122"/>
            <a:ext cx="352693" cy="307777"/>
          </a:xfrm>
          <a:prstGeom prst="rect">
            <a:avLst/>
          </a:prstGeom>
          <a:ln w="12700">
            <a:noFill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000" b="1" kern="0" dirty="0">
                <a:solidFill>
                  <a:schemeClr val="accent3">
                    <a:lumMod val="75000"/>
                  </a:schemeClr>
                </a:solidFill>
                <a:latin typeface="+mn-lt"/>
                <a:ea typeface="Arial Unicode MS" pitchFamily="34" charset="-128"/>
                <a:cs typeface="Arial Unicode MS" pitchFamily="34" charset="-128"/>
                <a:sym typeface="Wingdings" panose="05000000000000000000" pitchFamily="2" charset="2"/>
              </a:rPr>
              <a:t></a:t>
            </a:r>
            <a:endParaRPr lang="en-US" sz="2000" b="1" kern="0" dirty="0">
              <a:solidFill>
                <a:schemeClr val="accent3">
                  <a:lumMod val="75000"/>
                </a:schemeClr>
              </a:solidFill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BDBAF53-C0BC-9B3A-A9F7-E3B240D684C2}"/>
              </a:ext>
            </a:extLst>
          </p:cNvPr>
          <p:cNvSpPr txBox="1"/>
          <p:nvPr/>
        </p:nvSpPr>
        <p:spPr>
          <a:xfrm>
            <a:off x="9399688" y="2904468"/>
            <a:ext cx="35269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000" b="1" kern="0" dirty="0">
                <a:solidFill>
                  <a:schemeClr val="accent3">
                    <a:lumMod val="75000"/>
                  </a:schemeClr>
                </a:solidFill>
                <a:latin typeface="+mn-lt"/>
                <a:ea typeface="Arial Unicode MS" pitchFamily="34" charset="-128"/>
                <a:cs typeface="Arial Unicode MS" pitchFamily="34" charset="-128"/>
                <a:sym typeface="Wingdings" panose="05000000000000000000" pitchFamily="2" charset="2"/>
              </a:rPr>
              <a:t></a:t>
            </a:r>
            <a:endParaRPr lang="en-US" sz="2000" b="1" kern="0" dirty="0">
              <a:solidFill>
                <a:schemeClr val="accent3">
                  <a:lumMod val="75000"/>
                </a:schemeClr>
              </a:solidFill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7335A74-8541-B4CB-D29F-015ED06B02F4}"/>
              </a:ext>
            </a:extLst>
          </p:cNvPr>
          <p:cNvSpPr txBox="1"/>
          <p:nvPr/>
        </p:nvSpPr>
        <p:spPr>
          <a:xfrm>
            <a:off x="10985419" y="2904510"/>
            <a:ext cx="35269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000" b="1" kern="0" dirty="0">
                <a:solidFill>
                  <a:schemeClr val="accent3">
                    <a:lumMod val="75000"/>
                  </a:schemeClr>
                </a:solidFill>
                <a:latin typeface="+mn-lt"/>
                <a:ea typeface="Arial Unicode MS" pitchFamily="34" charset="-128"/>
                <a:cs typeface="Arial Unicode MS" pitchFamily="34" charset="-128"/>
                <a:sym typeface="Wingdings" panose="05000000000000000000" pitchFamily="2" charset="2"/>
              </a:rPr>
              <a:t></a:t>
            </a:r>
            <a:endParaRPr lang="en-US" sz="2000" b="1" kern="0" dirty="0">
              <a:solidFill>
                <a:schemeClr val="accent3">
                  <a:lumMod val="75000"/>
                </a:schemeClr>
              </a:solidFill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8A1FC25-5517-6577-3EEE-B0BF6575F9F5}"/>
              </a:ext>
            </a:extLst>
          </p:cNvPr>
          <p:cNvSpPr txBox="1"/>
          <p:nvPr/>
        </p:nvSpPr>
        <p:spPr>
          <a:xfrm>
            <a:off x="1342280" y="3877472"/>
            <a:ext cx="3526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200" b="0" i="0" u="none" strike="noStrike" kern="1200" cap="none" spc="0" normalizeH="0" baseline="0" noProof="0">
                <a:ln>
                  <a:noFill/>
                </a:ln>
                <a:solidFill>
                  <a:srgbClr val="DF000F"/>
                </a:solidFill>
                <a:effectLst/>
                <a:uLnTx/>
                <a:uFillTx/>
                <a:latin typeface="72 Brand Medium"/>
                <a:ea typeface="+mn-ea"/>
                <a:cs typeface="+mn-cs"/>
              </a:rPr>
              <a:t>❌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72 Brand Medium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B9A5DFA-DF81-33DE-31EA-1D4E85D1B1CD}"/>
              </a:ext>
            </a:extLst>
          </p:cNvPr>
          <p:cNvSpPr txBox="1"/>
          <p:nvPr/>
        </p:nvSpPr>
        <p:spPr>
          <a:xfrm>
            <a:off x="3247662" y="3882771"/>
            <a:ext cx="3526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200" b="0" i="0" u="none" strike="noStrike" kern="1200" cap="none" spc="0" normalizeH="0" baseline="0" noProof="0">
                <a:ln>
                  <a:noFill/>
                </a:ln>
                <a:solidFill>
                  <a:srgbClr val="DF000F"/>
                </a:solidFill>
                <a:effectLst/>
                <a:uLnTx/>
                <a:uFillTx/>
                <a:latin typeface="72 Brand Medium"/>
                <a:ea typeface="+mn-ea"/>
                <a:cs typeface="+mn-cs"/>
              </a:rPr>
              <a:t>❌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72 Brand Medium"/>
              <a:ea typeface="+mn-ea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4D386B8-FFFF-D2C8-8569-222C409D29A2}"/>
              </a:ext>
            </a:extLst>
          </p:cNvPr>
          <p:cNvSpPr txBox="1"/>
          <p:nvPr/>
        </p:nvSpPr>
        <p:spPr>
          <a:xfrm>
            <a:off x="6000024" y="3872173"/>
            <a:ext cx="3526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200" b="0" i="0" u="none" strike="noStrike" kern="1200" cap="none" spc="0" normalizeH="0" baseline="0" noProof="0">
                <a:ln>
                  <a:noFill/>
                </a:ln>
                <a:solidFill>
                  <a:srgbClr val="DF000F"/>
                </a:solidFill>
                <a:effectLst/>
                <a:uLnTx/>
                <a:uFillTx/>
                <a:latin typeface="72 Brand Medium"/>
                <a:ea typeface="+mn-ea"/>
                <a:cs typeface="+mn-cs"/>
              </a:rPr>
              <a:t>❌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72 Brand Medium"/>
              <a:ea typeface="+mn-ea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4D94608-40A9-6694-CE0D-0A6EF91B8FCF}"/>
              </a:ext>
            </a:extLst>
          </p:cNvPr>
          <p:cNvSpPr txBox="1"/>
          <p:nvPr/>
        </p:nvSpPr>
        <p:spPr>
          <a:xfrm>
            <a:off x="9874868" y="2246809"/>
            <a:ext cx="3526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200" b="0" i="0" u="none" strike="noStrike" kern="1200" cap="none" spc="0" normalizeH="0" baseline="0" noProof="0">
                <a:ln>
                  <a:noFill/>
                </a:ln>
                <a:solidFill>
                  <a:srgbClr val="DF000F"/>
                </a:solidFill>
                <a:effectLst/>
                <a:uLnTx/>
                <a:uFillTx/>
                <a:latin typeface="72 Brand Medium"/>
                <a:ea typeface="+mn-ea"/>
                <a:cs typeface="+mn-cs"/>
              </a:rPr>
              <a:t>❌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72 Brand Medium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01DC5-D361-6282-A547-EA4DC98F3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the path to the UI extension based on your needs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B4B1D9A-760F-5D47-E637-F43FB73C0367}"/>
              </a:ext>
            </a:extLst>
          </p:cNvPr>
          <p:cNvSpPr txBox="1"/>
          <p:nvPr/>
        </p:nvSpPr>
        <p:spPr>
          <a:xfrm>
            <a:off x="6570847" y="2253297"/>
            <a:ext cx="2167676" cy="276999"/>
          </a:xfrm>
          <a:prstGeom prst="rect">
            <a:avLst/>
          </a:prstGeom>
          <a:ln w="12700">
            <a:noFill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200" b="0" i="0" u="none" strike="noStrike" kern="1200" cap="none" spc="0" normalizeH="0" baseline="0" noProof="0">
                <a:ln>
                  <a:noFill/>
                </a:ln>
                <a:solidFill>
                  <a:srgbClr val="DF000F"/>
                </a:solidFill>
                <a:effectLst/>
                <a:uLnTx/>
                <a:uFillTx/>
                <a:latin typeface="72 Brand Medium"/>
                <a:ea typeface="+mn-ea"/>
                <a:cs typeface="+mn-cs"/>
              </a:rPr>
              <a:t>❌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72 Brand Medium"/>
              <a:ea typeface="+mn-ea"/>
              <a:cs typeface="+mn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C81D872-D82C-36BA-FAED-0CA1414B8700}"/>
              </a:ext>
            </a:extLst>
          </p:cNvPr>
          <p:cNvSpPr txBox="1"/>
          <p:nvPr/>
        </p:nvSpPr>
        <p:spPr>
          <a:xfrm>
            <a:off x="1977574" y="2314852"/>
            <a:ext cx="3526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200" b="0" i="0">
                <a:solidFill>
                  <a:srgbClr val="DF000F"/>
                </a:solidFill>
                <a:effectLst/>
                <a:latin typeface="+mj-lt"/>
              </a:rPr>
              <a:t>❌</a:t>
            </a:r>
            <a:endParaRPr lang="en-US" sz="18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7" name="Rectangle: Rounded Corners 17">
            <a:extLst>
              <a:ext uri="{FF2B5EF4-FFF2-40B4-BE49-F238E27FC236}">
                <a16:creationId xmlns:a16="http://schemas.microsoft.com/office/drawing/2014/main" id="{90450543-251C-972A-398B-475F4A9F977C}"/>
              </a:ext>
            </a:extLst>
          </p:cNvPr>
          <p:cNvSpPr/>
          <p:nvPr/>
        </p:nvSpPr>
        <p:spPr bwMode="gray">
          <a:xfrm>
            <a:off x="8738526" y="4859048"/>
            <a:ext cx="1136342" cy="1457585"/>
          </a:xfrm>
          <a:prstGeom prst="roundRect">
            <a:avLst/>
          </a:prstGeom>
          <a:solidFill>
            <a:srgbClr val="002A86"/>
          </a:solidFill>
          <a:ln w="28575" algn="ctr">
            <a:solidFill>
              <a:srgbClr val="000000">
                <a:alpha val="0"/>
              </a:srgbClr>
            </a:solidFill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Custom app on-stack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800" kern="0" dirty="0">
                <a:solidFill>
                  <a:srgbClr val="FFFFFF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(with SAP Build, </a:t>
            </a:r>
            <a:br>
              <a:rPr lang="en-US" sz="800" kern="0" dirty="0">
                <a:solidFill>
                  <a:srgbClr val="FFFFFF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</a:br>
            <a:r>
              <a:rPr lang="en-US" sz="800" kern="0" dirty="0">
                <a:solidFill>
                  <a:srgbClr val="FFFFFF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ABAP Cloud,:</a:t>
            </a:r>
            <a:br>
              <a:rPr lang="en-US" sz="800" kern="0" dirty="0">
                <a:solidFill>
                  <a:srgbClr val="FFFFFF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</a:br>
            <a:r>
              <a:rPr lang="en-US" sz="800" kern="0" dirty="0">
                <a:solidFill>
                  <a:srgbClr val="FFFFFF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SAP Fiori elements, or SAPUI5 freestyle)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9" name="Rectangle: Rounded Corners 17">
            <a:extLst>
              <a:ext uri="{FF2B5EF4-FFF2-40B4-BE49-F238E27FC236}">
                <a16:creationId xmlns:a16="http://schemas.microsoft.com/office/drawing/2014/main" id="{D8E6CEBC-EC53-A7C8-AAA9-65FC446833DA}"/>
              </a:ext>
            </a:extLst>
          </p:cNvPr>
          <p:cNvSpPr/>
          <p:nvPr/>
        </p:nvSpPr>
        <p:spPr bwMode="gray">
          <a:xfrm>
            <a:off x="10303638" y="4859048"/>
            <a:ext cx="1136342" cy="1457585"/>
          </a:xfrm>
          <a:prstGeom prst="roundRect">
            <a:avLst/>
          </a:prstGeom>
          <a:solidFill>
            <a:srgbClr val="002A86"/>
          </a:solidFill>
          <a:ln w="28575" algn="ctr">
            <a:solidFill>
              <a:srgbClr val="000000">
                <a:alpha val="0"/>
              </a:srgbClr>
            </a:solidFill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lvl="0"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1200" kern="0" dirty="0">
                <a:solidFill>
                  <a:srgbClr val="FFFFFF"/>
                </a:solidFill>
                <a:ea typeface="Arial Unicode MS" pitchFamily="34" charset="-128"/>
                <a:cs typeface="Arial Unicode MS" pitchFamily="34" charset="-128"/>
              </a:rPr>
              <a:t>Custom app side-by-side</a:t>
            </a:r>
          </a:p>
          <a:p>
            <a:pPr lvl="0"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800" kern="0" dirty="0">
                <a:solidFill>
                  <a:srgbClr val="FFFFFF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(with SAP Build, </a:t>
            </a:r>
            <a:br>
              <a:rPr lang="en-US" sz="800" kern="0" dirty="0">
                <a:solidFill>
                  <a:srgbClr val="FFFFFF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</a:br>
            <a:r>
              <a:rPr lang="en-US" sz="800" kern="0" dirty="0">
                <a:solidFill>
                  <a:srgbClr val="FFFFFF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CAP, ABAP Cloud:</a:t>
            </a:r>
            <a:br>
              <a:rPr lang="en-US" sz="800" kern="0" dirty="0">
                <a:solidFill>
                  <a:srgbClr val="FFFFFF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</a:br>
            <a:r>
              <a:rPr lang="en-US" sz="800" kern="0" dirty="0">
                <a:solidFill>
                  <a:srgbClr val="FFFFFF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SAP Fiori elements, SAPUI5 freestyle, or SAP Build Apps)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165E9D-785D-287A-0804-DB270DD5D2E1}"/>
              </a:ext>
            </a:extLst>
          </p:cNvPr>
          <p:cNvSpPr txBox="1"/>
          <p:nvPr/>
        </p:nvSpPr>
        <p:spPr>
          <a:xfrm>
            <a:off x="6802719" y="2253296"/>
            <a:ext cx="1358969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kumimoji="0" lang="en-DE" sz="8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72 Brand" panose="020B0504030603020204" pitchFamily="34" charset="0"/>
              </a:rPr>
              <a:t>No standard UI available</a:t>
            </a:r>
            <a:endParaRPr lang="en-US" sz="800" dirty="0">
              <a:latin typeface="72 Brand" panose="020B0504030603020204" pitchFamily="34" charset="0"/>
            </a:endParaRP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2156C24-1D47-7EB8-86BD-E85B53E93BA0}"/>
              </a:ext>
            </a:extLst>
          </p:cNvPr>
          <p:cNvSpPr/>
          <p:nvPr/>
        </p:nvSpPr>
        <p:spPr bwMode="gray">
          <a:xfrm>
            <a:off x="2109757" y="4875010"/>
            <a:ext cx="1136342" cy="1457585"/>
          </a:xfrm>
          <a:prstGeom prst="roundRect">
            <a:avLst/>
          </a:prstGeom>
          <a:noFill/>
          <a:ln w="57150" algn="ctr">
            <a:solidFill>
              <a:srgbClr val="FF8AF0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970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26972E-6 0.00046 L 0.11169 0.00046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169 0.00046 L 0.67027 0.00046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9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 animBg="1"/>
      <p:bldP spid="80" grpId="0"/>
      <p:bldP spid="83" grpId="0"/>
      <p:bldP spid="87" grpId="0"/>
      <p:bldP spid="88" grpId="0"/>
      <p:bldP spid="89" grpId="0"/>
      <p:bldP spid="90" grpId="0"/>
      <p:bldP spid="91" grpId="0"/>
      <p:bldP spid="93" grpId="0"/>
      <p:bldP spid="94" grpId="0"/>
      <p:bldP spid="95" grpId="0"/>
      <p:bldP spid="96" grpId="0"/>
      <p:bldP spid="103" grpId="0"/>
      <p:bldP spid="104" grpId="0"/>
      <p:bldP spid="27" grpId="0" animBg="1"/>
      <p:bldP spid="29" grpId="0" animBg="1"/>
      <p:bldP spid="35" grpId="0"/>
      <p:bldP spid="4" grpId="0" animBg="1"/>
      <p:bldP spid="4" grpId="1" animBg="1"/>
      <p:bldP spid="4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EC62D-0AF1-E4FA-08BA-7AE49E638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4D90C-81D3-FD81-6474-001E522354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Hands on!</a:t>
            </a:r>
          </a:p>
        </p:txBody>
      </p:sp>
      <p:pic>
        <p:nvPicPr>
          <p:cNvPr id="4" name="Picture 3" descr="A qr code with a logo&#10;&#10;AI-generated content may be incorrect.">
            <a:extLst>
              <a:ext uri="{FF2B5EF4-FFF2-40B4-BE49-F238E27FC236}">
                <a16:creationId xmlns:a16="http://schemas.microsoft.com/office/drawing/2014/main" id="{11AFD146-1794-17E6-84DD-23B92E123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703351"/>
            <a:ext cx="2292069" cy="229206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BCE42E-3119-73FE-7E81-4062C452EF9B}"/>
              </a:ext>
            </a:extLst>
          </p:cNvPr>
          <p:cNvSpPr txBox="1"/>
          <p:nvPr/>
        </p:nvSpPr>
        <p:spPr>
          <a:xfrm>
            <a:off x="1765412" y="5154649"/>
            <a:ext cx="866435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00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https://</a:t>
            </a:r>
            <a:r>
              <a:rPr lang="en-US" sz="2000" kern="0" noProof="1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github.com</a:t>
            </a:r>
            <a:r>
              <a:rPr lang="en-US" sz="200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/SAP-samples/teched2025-AD260</a:t>
            </a:r>
            <a:endParaRPr lang="en-US" sz="2000" kern="0" dirty="0">
              <a:solidFill>
                <a:schemeClr val="bg1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64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B54A4D-8763-E116-F30D-A08F5B4B4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423" y="1960710"/>
            <a:ext cx="2930726" cy="293072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A1F2C3D-D4B1-8E3D-86C2-BD87127D6AE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351000"/>
            <a:ext cx="2419169" cy="6156000"/>
          </a:xfrm>
          <a:custGeom>
            <a:avLst/>
            <a:gdLst>
              <a:gd name="connsiteX0" fmla="*/ 0 w 2419169"/>
              <a:gd name="connsiteY0" fmla="*/ 0 h 6156000"/>
              <a:gd name="connsiteX1" fmla="*/ 2419169 w 2419169"/>
              <a:gd name="connsiteY1" fmla="*/ 0 h 6156000"/>
              <a:gd name="connsiteX2" fmla="*/ 2419169 w 2419169"/>
              <a:gd name="connsiteY2" fmla="*/ 6156000 h 6156000"/>
              <a:gd name="connsiteX3" fmla="*/ 0 w 2419169"/>
              <a:gd name="connsiteY3" fmla="*/ 6156000 h 61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9169" h="6156000">
                <a:moveTo>
                  <a:pt x="0" y="0"/>
                </a:moveTo>
                <a:lnTo>
                  <a:pt x="2419169" y="0"/>
                </a:lnTo>
                <a:lnTo>
                  <a:pt x="2419169" y="6156000"/>
                </a:lnTo>
                <a:lnTo>
                  <a:pt x="0" y="6156000"/>
                </a:lnTo>
                <a:close/>
              </a:path>
            </a:pathLst>
          </a:custGeom>
        </p:spPr>
      </p:pic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875ADF5-0E24-B0D5-460B-C25EBAA57096}"/>
              </a:ext>
            </a:extLst>
          </p:cNvPr>
          <p:cNvSpPr txBox="1">
            <a:spLocks/>
          </p:cNvSpPr>
          <p:nvPr/>
        </p:nvSpPr>
        <p:spPr>
          <a:xfrm>
            <a:off x="2875511" y="1779468"/>
            <a:ext cx="5260571" cy="329320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400" dirty="0">
                <a:latin typeface="+mj-lt"/>
              </a:rPr>
              <a:t>Your feedback matters.</a:t>
            </a:r>
          </a:p>
          <a:p>
            <a:pPr>
              <a:spcBef>
                <a:spcPts val="2400"/>
              </a:spcBef>
            </a:pPr>
            <a:r>
              <a:rPr lang="en-DE" sz="3600" dirty="0"/>
              <a:t>Share your thoughts on this session.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21568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qr code with a logo&#10;&#10;AI-generated content may be incorrect.">
            <a:extLst>
              <a:ext uri="{FF2B5EF4-FFF2-40B4-BE49-F238E27FC236}">
                <a16:creationId xmlns:a16="http://schemas.microsoft.com/office/drawing/2014/main" id="{3BD43478-4899-A6E0-FA7A-3539D9FDA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480" y="2905564"/>
            <a:ext cx="2418276" cy="241827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1B9D8B-4C6B-6313-8C70-15C582ACCB26}"/>
              </a:ext>
            </a:extLst>
          </p:cNvPr>
          <p:cNvSpPr txBox="1"/>
          <p:nvPr/>
        </p:nvSpPr>
        <p:spPr>
          <a:xfrm>
            <a:off x="2687467" y="1205468"/>
            <a:ext cx="2692302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00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AD 203</a:t>
            </a:r>
            <a:br>
              <a:rPr lang="en-US" sz="200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</a:br>
            <a:r>
              <a:rPr lang="en-US" sz="200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Fact Check:</a:t>
            </a:r>
            <a:br>
              <a:rPr lang="en-US" sz="200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</a:br>
            <a:r>
              <a:rPr lang="en-US" sz="2000" kern="0" dirty="0">
                <a:solidFill>
                  <a:schemeClr val="bg1"/>
                </a:solidFill>
                <a:latin typeface="72 Brand" panose="020B0504030603020204" pitchFamily="34" charset="0"/>
              </a:rPr>
              <a:t>UI extensibility on cloud and ABAP</a:t>
            </a:r>
          </a:p>
        </p:txBody>
      </p:sp>
      <p:pic>
        <p:nvPicPr>
          <p:cNvPr id="9" name="Picture 8" descr="A qr code with a logo&#10;&#10;AI-generated content may be incorrect.">
            <a:extLst>
              <a:ext uri="{FF2B5EF4-FFF2-40B4-BE49-F238E27FC236}">
                <a16:creationId xmlns:a16="http://schemas.microsoft.com/office/drawing/2014/main" id="{AC60D44D-55AA-210C-5A95-0DC922921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302" y="2905564"/>
            <a:ext cx="2418276" cy="241827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D24BA6-2504-99C4-87C9-3DADF944900D}"/>
              </a:ext>
            </a:extLst>
          </p:cNvPr>
          <p:cNvSpPr txBox="1"/>
          <p:nvPr/>
        </p:nvSpPr>
        <p:spPr>
          <a:xfrm>
            <a:off x="5545766" y="1205468"/>
            <a:ext cx="2983347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00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AD 106</a:t>
            </a:r>
            <a:br>
              <a:rPr lang="en-US" sz="200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</a:br>
            <a:r>
              <a:rPr lang="en-US" sz="200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The art of science of SAPUI5 in SAP Build</a:t>
            </a:r>
          </a:p>
        </p:txBody>
      </p:sp>
      <p:pic>
        <p:nvPicPr>
          <p:cNvPr id="12" name="Picture 11" descr="A qr code with a logo&#10;&#10;AI-generated content may be incorrect.">
            <a:extLst>
              <a:ext uri="{FF2B5EF4-FFF2-40B4-BE49-F238E27FC236}">
                <a16:creationId xmlns:a16="http://schemas.microsoft.com/office/drawing/2014/main" id="{7BC5DEEF-0C2C-5695-D626-A0C9630E0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7648" y="2905563"/>
            <a:ext cx="2418275" cy="24182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E77405-C5B7-A890-C3E7-BE4CAA4082AA}"/>
              </a:ext>
            </a:extLst>
          </p:cNvPr>
          <p:cNvSpPr txBox="1"/>
          <p:nvPr/>
        </p:nvSpPr>
        <p:spPr>
          <a:xfrm>
            <a:off x="8695111" y="1205468"/>
            <a:ext cx="2983347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2000" kern="0" dirty="0">
                <a:solidFill>
                  <a:schemeClr val="bg1"/>
                </a:solidFill>
                <a:latin typeface="72 Brand" panose="020B0504030603020204" pitchFamily="34" charset="0"/>
              </a:rPr>
              <a:t>AD820</a:t>
            </a:r>
            <a:br>
              <a:rPr lang="en-US" sz="2000" kern="0" dirty="0">
                <a:solidFill>
                  <a:schemeClr val="bg1"/>
                </a:solidFill>
                <a:latin typeface="72 Brand" panose="020B0504030603020204" pitchFamily="34" charset="0"/>
              </a:rPr>
            </a:br>
            <a:r>
              <a:rPr lang="en-US" sz="2000" kern="0" dirty="0">
                <a:solidFill>
                  <a:schemeClr val="bg1"/>
                </a:solidFill>
                <a:latin typeface="72 Brand" panose="020B0504030603020204" pitchFamily="34" charset="0"/>
              </a:rPr>
              <a:t>Future of app dev in SAP Build: Simplifying clean core and </a:t>
            </a:r>
            <a:r>
              <a:rPr lang="en-US" sz="2000" kern="0" dirty="0" err="1">
                <a:solidFill>
                  <a:schemeClr val="bg1"/>
                </a:solidFill>
                <a:latin typeface="72 Brand" panose="020B0504030603020204" pitchFamily="34" charset="0"/>
              </a:rPr>
              <a:t>LoB</a:t>
            </a:r>
            <a:r>
              <a:rPr lang="en-US" sz="2000" kern="0" dirty="0">
                <a:solidFill>
                  <a:schemeClr val="bg1"/>
                </a:solidFill>
                <a:latin typeface="72 Brand" panose="020B0504030603020204" pitchFamily="34" charset="0"/>
              </a:rPr>
              <a:t> extensions</a:t>
            </a:r>
          </a:p>
        </p:txBody>
      </p:sp>
    </p:spTree>
    <p:extLst>
      <p:ext uri="{BB962C8B-B14F-4D97-AF65-F5344CB8AC3E}">
        <p14:creationId xmlns:p14="http://schemas.microsoft.com/office/powerpoint/2010/main" val="2473250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3077F49-C86C-3EF0-ED50-F868B5302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tommy.vinh.lam@sap.com</a:t>
            </a:r>
            <a:endParaRPr lang="de-DE" dirty="0"/>
          </a:p>
          <a:p>
            <a:r>
              <a:rPr lang="de-DE" dirty="0" err="1"/>
              <a:t>daniel.schlachter@sap.com</a:t>
            </a:r>
            <a:endParaRPr lang="de-DE" dirty="0"/>
          </a:p>
          <a:p>
            <a:r>
              <a:rPr lang="de-DE" dirty="0" err="1"/>
              <a:t>cristian.voshage@sap.com</a:t>
            </a:r>
            <a:endParaRPr lang="de-DE" dirty="0"/>
          </a:p>
          <a:p>
            <a:r>
              <a:rPr lang="de-DE" dirty="0" err="1"/>
              <a:t>steffen.weinstock@sap.com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4C50BE-7DC4-693D-6D39-4994149FD7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16649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P TechEd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äsentation2" id="{01206AD5-7FF8-9149-86AD-111A2DF73E08}" vid="{B3D77812-0129-7541-BDAD-2CC78A0A35F6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Override1.xml><?xml version="1.0" encoding="utf-8"?>
<a:themeOverride xmlns:a="http://schemas.openxmlformats.org/drawingml/2006/main">
  <a:clrScheme name="SAP Colors 2023">
    <a:dk1>
      <a:srgbClr val="000000"/>
    </a:dk1>
    <a:lt1>
      <a:srgbClr val="FFFFFF"/>
    </a:lt1>
    <a:dk2>
      <a:srgbClr val="1B90FF"/>
    </a:dk2>
    <a:lt2>
      <a:srgbClr val="89D1FF"/>
    </a:lt2>
    <a:accent1>
      <a:srgbClr val="E76500"/>
    </a:accent1>
    <a:accent2>
      <a:srgbClr val="049F9A"/>
    </a:accent2>
    <a:accent3>
      <a:srgbClr val="36A41D"/>
    </a:accent3>
    <a:accent4>
      <a:srgbClr val="FA4F96"/>
    </a:accent4>
    <a:accent5>
      <a:srgbClr val="F31DED"/>
    </a:accent5>
    <a:accent6>
      <a:srgbClr val="7858FF"/>
    </a:accent6>
    <a:hlink>
      <a:srgbClr val="0070F2"/>
    </a:hlink>
    <a:folHlink>
      <a:srgbClr val="0070F2"/>
    </a:folHlink>
  </a:clrScheme>
</a:themeOverride>
</file>

<file path=ppt/theme/themeOverride2.xml><?xml version="1.0" encoding="utf-8"?>
<a:themeOverride xmlns:a="http://schemas.openxmlformats.org/drawingml/2006/main">
  <a:clrScheme name="SAP Colors 2023">
    <a:dk1>
      <a:srgbClr val="000000"/>
    </a:dk1>
    <a:lt1>
      <a:srgbClr val="FFFFFF"/>
    </a:lt1>
    <a:dk2>
      <a:srgbClr val="1B90FF"/>
    </a:dk2>
    <a:lt2>
      <a:srgbClr val="89D1FF"/>
    </a:lt2>
    <a:accent1>
      <a:srgbClr val="E76500"/>
    </a:accent1>
    <a:accent2>
      <a:srgbClr val="049F9A"/>
    </a:accent2>
    <a:accent3>
      <a:srgbClr val="36A41D"/>
    </a:accent3>
    <a:accent4>
      <a:srgbClr val="FA4F96"/>
    </a:accent4>
    <a:accent5>
      <a:srgbClr val="F31DED"/>
    </a:accent5>
    <a:accent6>
      <a:srgbClr val="7858FF"/>
    </a:accent6>
    <a:hlink>
      <a:srgbClr val="0070F2"/>
    </a:hlink>
    <a:folHlink>
      <a:srgbClr val="0070F2"/>
    </a:folHlink>
  </a:clrScheme>
</a:themeOverride>
</file>

<file path=ppt/theme/themeOverride3.xml><?xml version="1.0" encoding="utf-8"?>
<a:themeOverride xmlns:a="http://schemas.openxmlformats.org/drawingml/2006/main">
  <a:clrScheme name="SAP Colors 2023">
    <a:dk1>
      <a:srgbClr val="000000"/>
    </a:dk1>
    <a:lt1>
      <a:srgbClr val="FFFFFF"/>
    </a:lt1>
    <a:dk2>
      <a:srgbClr val="1B90FF"/>
    </a:dk2>
    <a:lt2>
      <a:srgbClr val="89D1FF"/>
    </a:lt2>
    <a:accent1>
      <a:srgbClr val="E76500"/>
    </a:accent1>
    <a:accent2>
      <a:srgbClr val="049F9A"/>
    </a:accent2>
    <a:accent3>
      <a:srgbClr val="36A41D"/>
    </a:accent3>
    <a:accent4>
      <a:srgbClr val="FA4F96"/>
    </a:accent4>
    <a:accent5>
      <a:srgbClr val="F31DED"/>
    </a:accent5>
    <a:accent6>
      <a:srgbClr val="7858FF"/>
    </a:accent6>
    <a:hlink>
      <a:srgbClr val="0070F2"/>
    </a:hlink>
    <a:folHlink>
      <a:srgbClr val="0070F2"/>
    </a:folHlink>
  </a:clrScheme>
</a:themeOverride>
</file>

<file path=ppt/theme/themeOverride4.xml><?xml version="1.0" encoding="utf-8"?>
<a:themeOverride xmlns:a="http://schemas.openxmlformats.org/drawingml/2006/main">
  <a:clrScheme name="SAP Colors 2023">
    <a:dk1>
      <a:srgbClr val="000000"/>
    </a:dk1>
    <a:lt1>
      <a:srgbClr val="FFFFFF"/>
    </a:lt1>
    <a:dk2>
      <a:srgbClr val="1B90FF"/>
    </a:dk2>
    <a:lt2>
      <a:srgbClr val="89D1FF"/>
    </a:lt2>
    <a:accent1>
      <a:srgbClr val="E76500"/>
    </a:accent1>
    <a:accent2>
      <a:srgbClr val="049F9A"/>
    </a:accent2>
    <a:accent3>
      <a:srgbClr val="36A41D"/>
    </a:accent3>
    <a:accent4>
      <a:srgbClr val="FA4F96"/>
    </a:accent4>
    <a:accent5>
      <a:srgbClr val="F31DED"/>
    </a:accent5>
    <a:accent6>
      <a:srgbClr val="7858FF"/>
    </a:accent6>
    <a:hlink>
      <a:srgbClr val="0070F2"/>
    </a:hlink>
    <a:folHlink>
      <a:srgbClr val="0070F2"/>
    </a:folHlink>
  </a:clrScheme>
</a:themeOverride>
</file>

<file path=ppt/theme/themeOverride5.xml><?xml version="1.0" encoding="utf-8"?>
<a:themeOverride xmlns:a="http://schemas.openxmlformats.org/drawingml/2006/main">
  <a:clrScheme name="SAP Colors 2023">
    <a:dk1>
      <a:srgbClr val="000000"/>
    </a:dk1>
    <a:lt1>
      <a:srgbClr val="FFFFFF"/>
    </a:lt1>
    <a:dk2>
      <a:srgbClr val="1B90FF"/>
    </a:dk2>
    <a:lt2>
      <a:srgbClr val="89D1FF"/>
    </a:lt2>
    <a:accent1>
      <a:srgbClr val="E76500"/>
    </a:accent1>
    <a:accent2>
      <a:srgbClr val="049F9A"/>
    </a:accent2>
    <a:accent3>
      <a:srgbClr val="36A41D"/>
    </a:accent3>
    <a:accent4>
      <a:srgbClr val="FA4F96"/>
    </a:accent4>
    <a:accent5>
      <a:srgbClr val="F31DED"/>
    </a:accent5>
    <a:accent6>
      <a:srgbClr val="7858FF"/>
    </a:accent6>
    <a:hlink>
      <a:srgbClr val="0070F2"/>
    </a:hlink>
    <a:folHlink>
      <a:srgbClr val="0070F2"/>
    </a:folHlink>
  </a:clrScheme>
</a:themeOverride>
</file>

<file path=ppt/theme/themeOverride6.xml><?xml version="1.0" encoding="utf-8"?>
<a:themeOverride xmlns:a="http://schemas.openxmlformats.org/drawingml/2006/main">
  <a:clrScheme name="SAP Colors 2023">
    <a:dk1>
      <a:srgbClr val="000000"/>
    </a:dk1>
    <a:lt1>
      <a:srgbClr val="FFFFFF"/>
    </a:lt1>
    <a:dk2>
      <a:srgbClr val="1B90FF"/>
    </a:dk2>
    <a:lt2>
      <a:srgbClr val="89D1FF"/>
    </a:lt2>
    <a:accent1>
      <a:srgbClr val="E76500"/>
    </a:accent1>
    <a:accent2>
      <a:srgbClr val="049F9A"/>
    </a:accent2>
    <a:accent3>
      <a:srgbClr val="36A41D"/>
    </a:accent3>
    <a:accent4>
      <a:srgbClr val="FA4F96"/>
    </a:accent4>
    <a:accent5>
      <a:srgbClr val="F31DED"/>
    </a:accent5>
    <a:accent6>
      <a:srgbClr val="7858FF"/>
    </a:accent6>
    <a:hlink>
      <a:srgbClr val="0070F2"/>
    </a:hlink>
    <a:folHlink>
      <a:srgbClr val="0070F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3.xml><?xml version="1.0" encoding="utf-8"?>
<TemplafyTemplateConfiguration><![CDATA[{"elementsMetadata":[{"type":"shape","id":"3f0b8b37-260a-4498-93b8-315483b1dcd9","elementConfiguration":{"binding":"{{ DataSources.Classification[Form.Classification.Name].Display}}","type":"text","disableUpdates":false}},{"type":"shape","id":"290322f9-1797-4b4d-8043-942607235499","elementConfiguration":{"inheritDimensions":"{{InheritDimensions.InheritNone}}","width":"","height":"1 cm","image":"{{Form.SAPLogo.SubbrandBlue}}","visibility":"","type":"image","disableUpdates":false}},{"type":"shape","id":"74f902db-19ce-473e-a6ef-bfcbbe21a93e","elementConfiguration":{"binding":"{{Form.Classification.Display}}","visibility":"","type":"text","disableUpdates":false}},{"type":"shape","id":"15a0c36e-cfcd-42f4-8d96-f48f504a4dda","elementConfiguration":{"binding":"{{Form.Classification.Display}}","visibility":"","type":"text","disableUpdates":false}},{"type":"shape","id":"f018ab10-9877-4c1a-903d-8e20a0516ebf","elementConfiguration":{"inheritDimensions":"{{InheritDimensions.InheritNone}}","width":"","height":"1 cm","image":"{{Form.SAPLogo.SubbrandBlack}}","visibility":"","type":"image","disableUpdates":false}},{"type":"shape","id":"819aee73-a0a2-4380-a436-a557525fa29d","elementConfiguration":{"inheritDimensions":"{{InheritDimensions.InheritNone}}","width":"","height":"1 cm","image":"{{Form.SAPLogo.SubbrandWhite}}","visibility":"","type":"image","disableUpdates":false}},{"type":"shape","id":"281de79b-cce6-4308-a6d3-2c16a47ae934","elementConfiguration":{"binding":"{{Form.Classification.Display}}","visibility":"","type":"text","disableUpdates":false}},{"type":"shape","id":"31fb104a-4bd2-4be1-990c-9956a246a6a6","elementConfiguration":{"inheritDimensions":"{{InheritDimensions.InheritNone}}","width":"","height":"1 cm","image":"{{Form.SAPLogo.SubbrandBlue}}","visibility":"","type":"image","disableUpdates":false}},{"type":"shape","id":"dd500091-516e-4e09-935d-a8446760ab37","elementConfiguration":{"binding":"{{Form.Classification.Display}}","visibility":"","type":"text","disableUpdates":false}},{"type":"shape","id":"b86c6774-bfb5-42ce-af29-ad7c8e956cc6","elementConfiguration":{"inheritDimensions":"{{InheritDimensions.InheritNone}}","width":"","height":"1 cm","image":"{{Form.SAPLogo.SubbrandBlue}}","visibility":"","type":"image","disableUpdates":false}},{"type":"shape","id":"a4489086-5ad1-4eb9-8912-a3dfda15f59c","elementConfiguration":{"binding":"{{Form.Classification.Display}}","visibility":"","type":"text","disableUpdates":false}},{"type":"shape","id":"77d39480-6bb2-4f9e-b166-58e397c730ef","elementConfiguration":{"inheritDimensions":"{{InheritDimensions.InheritNone}}","width":"","height":"1 cm","image":"{{Form.SAPLogo.SubbrandBlue}}","visibility":"","type":"image","disableUpdates":false}},{"type":"shape","id":"c215a143-e24c-42fe-8717-bcd7348f576e","elementConfiguration":{"binding":"{{Form.Classification.Display}}","visibility":"","type":"text","disableUpdates":false}},{"type":"shape","id":"4df62b98-d4a2-4d63-b8e0-3801bf727202","elementConfiguration":{"inheritDimensions":"{{InheritDimensions.InheritNone}}","width":"","height":"1 cm","image":"{{Form.SAPLogo.SubbrandWhite}}","visibility":"","type":"image","disableUpdates":false}},{"type":"shape","id":"8cba19fe-2e13-48e5-b14b-92c3761b1d34","elementConfiguration":{"binding":"{{Form.Classification.Display}}","visibility":"","type":"text","disableUpdates":false}},{"type":"shape","id":"27f15a2f-efbf-4b45-a883-cb50c003bc42","elementConfiguration":{"binding":"{{DataSources.PPTCopyRight[\"Slide 5 copyright\"].CopyrightMessage}}","visibility":"","type":"text","disableUpdates":false}},{"type":"shape","id":"c55a38a9-de1b-495a-8b58-131e1d52fd54","elementConfiguration":{"inheritDimensions":"{{InheritDimensions.InheritNone}}","width":"","height":"1 cm","image":"{{Form.SAPLogo.SubbrandBlack}}","visibility":"","type":"image","disableUpdates":false}},{"type":"shape","id":"874250cf-0daf-4fd4-8228-464988deba1e","elementConfiguration":{"binding":"{{Form.Classification.Display}}","visibility":"","type":"text","disableUpdates":false}},{"type":"shape","id":"d4065cf0-3d7d-4421-8dd7-4a927a682008","elementConfiguration":{"inheritDimensions":"{{InheritDimensions.InheritNone}}","width":"","height":"1 cm","image":"{{Form.SAPLogo.SubbrandWhite}}","visibility":"","type":"image","disableUpdates":false}},{"type":"shape","id":"79cac289-6949-46c4-afc6-3b10b6515444","elementConfiguration":{"binding":"{{Form.Classification.Display}}","visibility":"","type":"text","disableUpdates":false}},{"type":"shape","id":"65841d7c-a25a-482e-8a0b-399fe2060e85","elementConfiguration":{"inheritDimensions":"{{InheritDimensions.InheritNone}}","width":"","height":"1 cm","image":"{{Form.SAPLogo.SubbrandBlack}}","visibility":"","type":"image","disableUpdates":false}},{"type":"shape","id":"9a099f80-0352-4bc9-9d82-a824546006f3","elementConfiguration":{"binding":"{{Form.Classification.Display}}","visibility":"","type":"text","disableUpdates":false}},{"type":"shape","id":"a0696034-9670-4d7b-a80a-e5801256b450","elementConfiguration":{"inheritDimensions":"{{InheritDimensions.InheritNone}}","width":"","height":"1 cm","image":"{{Form.SAPLogo.SubbrandWhite}}","visibility":"","type":"image","disableUpdates":false}},{"type":"shape","id":"efe1d89f-eade-44b0-a576-0c0f42301897","elementConfiguration":{"binding":"{{Form.Classification.Display}}","visibility":"","type":"text","disableUpdates":false}},{"type":"shape","id":"57053213-140f-42e4-b279-3aff034a8e0b","elementConfiguration":{"inheritDimensions":"{{InheritDimensions.InheritNone}}","width":"","height":"1 cm","image":"{{Form.SAPLogo.SubbrandWhite}}","visibility":"","type":"image","disableUpdates":false}},{"type":"shape","id":"d79d039e-49b3-4324-b9e4-2a15bf644364","elementConfiguration":{"binding":"{{Form.Classification.Display}}","visibility":"","type":"text","disableUpdates":false}},{"type":"shape","id":"c329a080-8cac-45b3-9090-29e32358fc6a","elementConfiguration":{"binding":"{{StringJoin(\", \", Form.SpeakerName,\"SAP\")}}","type":"text","disableUpdates":false}},{"type":"shape","id":"036a9aaf-43e1-4444-ab2f-2c19850121cf","elementConfiguration":{"binding":"{{FormatDateTime(Form.Date,\"MMMM dd, yyyy\",\"en-US\")}}","type":"text","disableUpdates":false}},{"type":"shape","id":"473c97bd-6527-4a05-b5f4-5c152564332e","elementConfiguration":{"binding":"{{StringJoin(\", \", Form.SpeakerName,\"SAP\")}}","type":"text","disableUpdates":false}},{"type":"shape","id":"759f30db-fd7e-4644-9268-245a52a87c4a","elementConfiguration":{"binding":"{{FormatDateTime(Form.Date,\"MMMM dd, yyyy\",\"en-US\")}}","type":"text","disableUpdates":false}},{"type":"shape","id":"fde02d00-ce80-4365-9d9b-bf7e02a1508f","elementConfiguration":{"binding":"{{StringJoin(\", \", Form.SpeakerName,\"SAP\")}}","type":"text","disableUpdates":false}},{"type":"shape","id":"cbb0b46e-43e3-433e-b41e-bd146292a8c7","elementConfiguration":{"binding":"{{FormatDateTime(Form.Date,\"MMMM dd, yyyy\",\"en-US\")}}","type":"text","disableUpdates":false}},{"type":"shape","id":"fc45eda2-9531-4c18-9e5b-851b689cb53d","elementConfiguration":{"binding":"{{StringJoin(\", \", Form.SpeakerName,\"SAP\")}}","type":"text","disableUpdates":false}},{"type":"shape","id":"075e6c73-5362-4a19-b37f-56f1675ff574","elementConfiguration":{"binding":"{{FormatDateTime(Form.Date,\"MMMM dd, yyyy\",\"en-US\")}}","type":"text","disableUpdates":false}},{"type":"shape","id":"52894cf0-968a-4afd-9cde-8550dd0fba68","elementConfiguration":{"binding":"{{StringJoin(\", \", Form.SpeakerName,\"SAP\")}}","type":"text","disableUpdates":false}},{"type":"shape","id":"8f89bd7f-10f8-43e3-8d2c-478085b4aae4","elementConfiguration":{"binding":"{{FormatDateTime(Form.Date,\"MMMM dd, yyyy\",\"en-US\")}}","type":"text","disableUpdates":false}},{"type":"shape","id":"8d9e1e6e-f3bd-4759-9efc-58b4b54479c2","elementConfiguration":{"binding":"{{StringJoin(\", \", Form.SpeakerName,\"SAP\")}}","type":"text","disableUpdates":false}},{"type":"shape","id":"416bc492-2ab1-4b95-8e4d-7e2d411f8372","elementConfiguration":{"binding":"{{FormatDateTime(Form.Date,\"MMMM dd, yyyy\",\"en-US\")}}","type":"text","disableUpdates":false}},{"type":"shape","id":"91ea2ed7-0f81-4e49-99ea-28c092a71883","elementConfiguration":{"binding":"{{Form.SpeakerName}}","type":"text","disableUpdates":false}},{"type":"shape","id":"3698467b-0ce9-4ef0-a8f2-89030f025514","elementConfiguration":{"binding":"{{Form.Email}}","type":"text","disableUpdates":false}}],"transformationConfigurations":[],"templateName":"SAP Template NEW","templateDescription":"","enableDocumentContentUpdater":true,"version":"2.0"}]]></TemplafyTemplateConfiguration>
</file>

<file path=customXml/item4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Email}}","shareValue":false,"type":"textBox","name":"Email","label":"Email"}],"formDataEntries":[{"name":"SAPLogo","value":"pxB0tb4qiCEYCgGk2fAV86fXsKRk9ZMKiRC3VaLJ5C8="},{"name":"Classification","value":"OmrOP8d402txjl1Zr787gUA6bTWeMdaxGEF9U5BKD64="},{"name":"SpeakerName","value":"YnPwfaWtJd9yqRikMcavEg=="},{"name":"Email","value":"v35+JSpO6F5yjM5PrFdVwQ=="}]}]]></TemplafyFormConfiguration>
</file>

<file path=customXml/item5.xml><?xml version="1.0" encoding="utf-8"?>
<TemplafySlideTemplateConfiguration><![CDATA[{"slideVersion":17,"isValidatorEnabled":false,"isLocked":false,"elementsMetadata":[],"slideId":"638331234102931200","enableDocumentContentUpdater":false,"version":"2.0"}]]></TemplafySlideTemplateConfiguration>
</file>

<file path=customXml/item6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DB854BE305DB4C957C49B2472BEADE" ma:contentTypeVersion="9" ma:contentTypeDescription="Create a new document." ma:contentTypeScope="" ma:versionID="ef417df0e8fc2cec8a5426781a4ca8bf">
  <xsd:schema xmlns:xsd="http://www.w3.org/2001/XMLSchema" xmlns:xs="http://www.w3.org/2001/XMLSchema" xmlns:p="http://schemas.microsoft.com/office/2006/metadata/properties" xmlns:ns2="e04054ec-1ed4-4285-8c8c-94e226392eff" targetNamespace="http://schemas.microsoft.com/office/2006/metadata/properties" ma:root="true" ma:fieldsID="ba5916d5857017b71e1a7c4fc9e1a8f1" ns2:_="">
    <xsd:import namespace="e04054ec-1ed4-4285-8c8c-94e226392eff"/>
    <xsd:element name="properties">
      <xsd:complexType>
        <xsd:sequence>
          <xsd:element name="documentManagement">
            <xsd:complexType>
              <xsd:all>
                <xsd:element ref="ns2:Content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4054ec-1ed4-4285-8c8c-94e226392eff" elementFormDefault="qualified">
    <xsd:import namespace="http://schemas.microsoft.com/office/2006/documentManagement/types"/>
    <xsd:import namespace="http://schemas.microsoft.com/office/infopath/2007/PartnerControls"/>
    <xsd:element name="Contents" ma:index="8" nillable="true" ma:displayName="Contents" ma:format="Dropdown" ma:internalName="Contents">
      <xsd:simpleType>
        <xsd:restriction base="dms:Note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8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ents xmlns="e04054ec-1ed4-4285-8c8c-94e226392eff" xsi:nil="true"/>
  </documentManagement>
</p:properties>
</file>

<file path=customXml/item9.xml><?xml version="1.0" encoding="utf-8"?>
<TemplafySlideTemplateConfiguration><![CDATA[{"slideVersion":18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White}}","visibility":"","type":"image","disableUpdates":false}},{"type":"shape","elementConfiguration":{"binding":"{{Form.Classification.Display}}","visibility":"","type":"text","disableUpdates":false}}],"slideId":"638331234102692406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7F6898E6-9ADD-4538-B0E5-FC21C8DB6903}">
  <ds:schemaRefs/>
</ds:datastoreItem>
</file>

<file path=customXml/itemProps2.xml><?xml version="1.0" encoding="utf-8"?>
<ds:datastoreItem xmlns:ds="http://schemas.openxmlformats.org/officeDocument/2006/customXml" ds:itemID="{77EBBC25-7217-6047-A6FE-6E3834623618}">
  <ds:schemaRefs/>
</ds:datastoreItem>
</file>

<file path=customXml/itemProps3.xml><?xml version="1.0" encoding="utf-8"?>
<ds:datastoreItem xmlns:ds="http://schemas.openxmlformats.org/officeDocument/2006/customXml" ds:itemID="{626BBCBB-1894-4E66-BA48-9E91CE3ACBA0}">
  <ds:schemaRefs/>
</ds:datastoreItem>
</file>

<file path=customXml/itemProps4.xml><?xml version="1.0" encoding="utf-8"?>
<ds:datastoreItem xmlns:ds="http://schemas.openxmlformats.org/officeDocument/2006/customXml" ds:itemID="{CC49FFC8-2FF3-4057-96F0-3BCD1A4F0351}">
  <ds:schemaRefs/>
</ds:datastoreItem>
</file>

<file path=customXml/itemProps5.xml><?xml version="1.0" encoding="utf-8"?>
<ds:datastoreItem xmlns:ds="http://schemas.openxmlformats.org/officeDocument/2006/customXml" ds:itemID="{97E3BD22-8559-41C7-B32B-85AADBCE3220}">
  <ds:schemaRefs/>
</ds:datastoreItem>
</file>

<file path=customXml/itemProps6.xml><?xml version="1.0" encoding="utf-8"?>
<ds:datastoreItem xmlns:ds="http://schemas.openxmlformats.org/officeDocument/2006/customXml" ds:itemID="{57F995F1-7E5F-4BD4-990D-BAACF22278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4054ec-1ed4-4285-8c8c-94e226392e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7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8.xml><?xml version="1.0" encoding="utf-8"?>
<ds:datastoreItem xmlns:ds="http://schemas.openxmlformats.org/officeDocument/2006/customXml" ds:itemID="{C1422F45-04DB-421D-8796-270006657806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e04054ec-1ed4-4285-8c8c-94e226392eff"/>
    <ds:schemaRef ds:uri="http://purl.org/dc/dcmitype/"/>
    <ds:schemaRef ds:uri="http://purl.org/dc/terms/"/>
    <ds:schemaRef ds:uri="http://schemas.microsoft.com/office/2006/metadata/properties"/>
    <ds:schemaRef ds:uri="http://purl.org/dc/elements/1.1/"/>
  </ds:schemaRefs>
</ds:datastoreItem>
</file>

<file path=customXml/itemProps9.xml><?xml version="1.0" encoding="utf-8"?>
<ds:datastoreItem xmlns:ds="http://schemas.openxmlformats.org/officeDocument/2006/customXml" ds:itemID="{E592BBB8-4E80-3C45-BEE9-486ED596EB3C}">
  <ds:schemaRefs/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SAP_TechEd_2025_Template_PUBLIC</Template>
  <TotalTime>19687</TotalTime>
  <Words>815</Words>
  <Application>Microsoft Macintosh PowerPoint</Application>
  <PresentationFormat>Custom</PresentationFormat>
  <Paragraphs>99</Paragraphs>
  <Slides>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Courier New</vt:lpstr>
      <vt:lpstr>72 Brand Medium</vt:lpstr>
      <vt:lpstr>Symbol</vt:lpstr>
      <vt:lpstr>Arial Unicode MS</vt:lpstr>
      <vt:lpstr>Arial</vt:lpstr>
      <vt:lpstr>Wingdings</vt:lpstr>
      <vt:lpstr>72 Brand</vt:lpstr>
      <vt:lpstr>Wingdings</vt:lpstr>
      <vt:lpstr>SAP TechEd Template</vt:lpstr>
      <vt:lpstr>think-cell Slide</vt:lpstr>
      <vt:lpstr>AD260 UI extensibility on cloud and ABAP: What's in it for you</vt:lpstr>
      <vt:lpstr>SAP Build helps you deliver results 3x faster. Build where your business lives, in the context of your applications, data, and AI.</vt:lpstr>
      <vt:lpstr>SAPUI5 is SAP’s standard UI framework of choice</vt:lpstr>
      <vt:lpstr>Choose the path to the UI extension based on your needs</vt:lpstr>
      <vt:lpstr>Hands on!</vt:lpstr>
      <vt:lpstr>PowerPoint Presentation</vt:lpstr>
      <vt:lpstr>PowerPoint Presentation</vt:lpstr>
      <vt:lpstr>PowerPoint Presentation</vt:lpstr>
    </vt:vector>
  </TitlesOfParts>
  <Manager/>
  <Company>SAP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Voshage, Christian</dc:creator>
  <cp:keywords/>
  <dc:description/>
  <cp:lastModifiedBy>Voshage, Christian</cp:lastModifiedBy>
  <cp:revision>5</cp:revision>
  <dcterms:created xsi:type="dcterms:W3CDTF">2025-09-25T08:20:14Z</dcterms:created>
  <dcterms:modified xsi:type="dcterms:W3CDTF">2025-11-04T09:23:24Z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1101452479</vt:i4>
  </property>
  <property fmtid="{D5CDD505-2E9C-101B-9397-08002B2CF9AE}" pid="3" name="_NewReviewCycle">
    <vt:lpwstr/>
  </property>
  <property fmtid="{D5CDD505-2E9C-101B-9397-08002B2CF9AE}" pid="4" name="_EmailSubject">
    <vt:lpwstr>SAP - PPT Exploration (Updated)</vt:lpwstr>
  </property>
  <property fmtid="{D5CDD505-2E9C-101B-9397-08002B2CF9AE}" pid="5" name="_PreviousAdHocReviewCycleID">
    <vt:i4>1357826825</vt:i4>
  </property>
  <property fmtid="{D5CDD505-2E9C-101B-9397-08002B2CF9AE}" pid="6" name="ContentTypeId">
    <vt:lpwstr>0x01010033DB854BE305DB4C957C49B2472BEADE</vt:lpwstr>
  </property>
  <property fmtid="{D5CDD505-2E9C-101B-9397-08002B2CF9AE}" pid="7" name="TemplafyTimeStamp">
    <vt:lpwstr>2024-09-17T07:55:49</vt:lpwstr>
  </property>
  <property fmtid="{D5CDD505-2E9C-101B-9397-08002B2CF9AE}" pid="8" name="TemplafyTenantId">
    <vt:lpwstr>sap</vt:lpwstr>
  </property>
  <property fmtid="{D5CDD505-2E9C-101B-9397-08002B2CF9AE}" pid="9" name="TemplafyTemplateId">
    <vt:lpwstr>743088030174412800</vt:lpwstr>
  </property>
  <property fmtid="{D5CDD505-2E9C-101B-9397-08002B2CF9AE}" pid="10" name="TemplafyUserProfileId">
    <vt:lpwstr>637653955260011855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  <property fmtid="{D5CDD505-2E9C-101B-9397-08002B2CF9AE}" pid="13" name="MediaServiceImageTags">
    <vt:lpwstr/>
  </property>
  <property fmtid="{D5CDD505-2E9C-101B-9397-08002B2CF9AE}" pid="14" name="Order">
    <vt:lpwstr>272900.000000000</vt:lpwstr>
  </property>
  <property fmtid="{D5CDD505-2E9C-101B-9397-08002B2CF9AE}" pid="15" name="xd_ProgID">
    <vt:lpwstr/>
  </property>
  <property fmtid="{D5CDD505-2E9C-101B-9397-08002B2CF9AE}" pid="16" name="_SourceUrl">
    <vt:lpwstr/>
  </property>
  <property fmtid="{D5CDD505-2E9C-101B-9397-08002B2CF9AE}" pid="17" name="_SharedFileIndex">
    <vt:lpwstr/>
  </property>
  <property fmtid="{D5CDD505-2E9C-101B-9397-08002B2CF9AE}" pid="18" name="ComplianceAssetId">
    <vt:lpwstr/>
  </property>
  <property fmtid="{D5CDD505-2E9C-101B-9397-08002B2CF9AE}" pid="19" name="TemplateUrl">
    <vt:lpwstr/>
  </property>
  <property fmtid="{D5CDD505-2E9C-101B-9397-08002B2CF9AE}" pid="20" name="_ExtendedDescription">
    <vt:lpwstr/>
  </property>
  <property fmtid="{D5CDD505-2E9C-101B-9397-08002B2CF9AE}" pid="21" name="TriggerFlowInfo">
    <vt:lpwstr/>
  </property>
  <property fmtid="{D5CDD505-2E9C-101B-9397-08002B2CF9AE}" pid="22" name="xd_Signature">
    <vt:lpwstr/>
  </property>
</Properties>
</file>